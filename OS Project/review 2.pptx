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IBM Plex Mono" panose="020B0509050203000203" pitchFamily="49" charset="0"/>
      <p:regular r:id="rId16"/>
    </p:embeddedFont>
    <p:embeddedFont>
      <p:font typeface="IBM Plex Mono Bold" panose="020B0809050203000203" charset="0"/>
      <p:regular r:id="rId17"/>
    </p:embeddedFont>
    <p:embeddedFont>
      <p:font typeface="IBM Plex Sans" panose="020B0503050203000203" pitchFamily="34" charset="0"/>
      <p:regular r:id="rId18"/>
    </p:embeddedFont>
    <p:embeddedFont>
      <p:font typeface="Montserra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8250" y="0"/>
            <a:ext cx="9429750" cy="10287000"/>
          </a:xfrm>
          <a:custGeom>
            <a:avLst/>
            <a:gdLst/>
            <a:ahLst/>
            <a:cxnLst/>
            <a:rect l="l" t="t" r="r" b="b"/>
            <a:pathLst>
              <a:path w="9429750" h="10287000">
                <a:moveTo>
                  <a:pt x="0" y="0"/>
                </a:moveTo>
                <a:lnTo>
                  <a:pt x="9429750" y="0"/>
                </a:lnTo>
                <a:lnTo>
                  <a:pt x="9429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" b="-22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7239000" y="0"/>
            <a:ext cx="11049000" cy="10287000"/>
            <a:chOff x="0" y="0"/>
            <a:chExt cx="14732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32000" cy="13716000"/>
            </a:xfrm>
            <a:custGeom>
              <a:avLst/>
              <a:gdLst/>
              <a:ahLst/>
              <a:cxnLst/>
              <a:rect l="l" t="t" r="r" b="b"/>
              <a:pathLst>
                <a:path w="14732000" h="13716000">
                  <a:moveTo>
                    <a:pt x="0" y="0"/>
                  </a:moveTo>
                  <a:lnTo>
                    <a:pt x="14732000" y="0"/>
                  </a:lnTo>
                  <a:lnTo>
                    <a:pt x="1473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426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732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933575"/>
            <a:ext cx="7772400" cy="3849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6150" b="1" dirty="0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Linux File</a:t>
            </a:r>
          </a:p>
          <a:p>
            <a:pPr algn="l">
              <a:lnSpc>
                <a:spcPts val="6027"/>
              </a:lnSpc>
            </a:pPr>
            <a:r>
              <a:rPr lang="en-US" sz="6150" b="1" dirty="0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Descriptor and</a:t>
            </a:r>
          </a:p>
          <a:p>
            <a:pPr algn="l">
              <a:lnSpc>
                <a:spcPts val="6027"/>
              </a:lnSpc>
            </a:pPr>
            <a:r>
              <a:rPr lang="en-US" sz="6150" b="1" dirty="0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File I/O</a:t>
            </a:r>
          </a:p>
          <a:p>
            <a:pPr algn="l">
              <a:lnSpc>
                <a:spcPts val="6027"/>
              </a:lnSpc>
            </a:pPr>
            <a:r>
              <a:rPr lang="en-US" sz="6150" b="1" dirty="0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Management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5955912"/>
            <a:ext cx="7239000" cy="34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dirty="0" err="1">
                <a:solidFill>
                  <a:srgbClr val="24D6E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</a:t>
            </a:r>
            <a:r>
              <a:rPr lang="en-US" sz="2250" dirty="0">
                <a:solidFill>
                  <a:srgbClr val="24D6E8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– Academic File &amp; Collaboration Portal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7000875"/>
            <a:ext cx="1047750" cy="57150"/>
            <a:chOff x="0" y="0"/>
            <a:chExt cx="139700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7000" cy="76200"/>
            </a:xfrm>
            <a:custGeom>
              <a:avLst/>
              <a:gdLst/>
              <a:ahLst/>
              <a:cxnLst/>
              <a:rect l="l" t="t" r="r" b="b"/>
              <a:pathLst>
                <a:path w="1397000" h="76200">
                  <a:moveTo>
                    <a:pt x="0" y="0"/>
                  </a:moveTo>
                  <a:lnTo>
                    <a:pt x="1397000" y="0"/>
                  </a:lnTo>
                  <a:lnTo>
                    <a:pt x="1397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4D6E8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970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7353300"/>
            <a:ext cx="6667500" cy="92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400" dirty="0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Bhavani tanya sri</a:t>
            </a:r>
          </a:p>
          <a:p>
            <a:pPr algn="l">
              <a:lnSpc>
                <a:spcPts val="2422"/>
              </a:lnSpc>
            </a:pPr>
            <a:endParaRPr lang="en-US" sz="2400" dirty="0">
              <a:solidFill>
                <a:srgbClr val="A8BDD2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l">
              <a:lnSpc>
                <a:spcPts val="2422"/>
              </a:lnSpc>
            </a:pPr>
            <a:r>
              <a:rPr lang="en-US" sz="2400" dirty="0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22520030112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an Operating System?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52650"/>
            <a:ext cx="7429500" cy="1028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 Operating System (OS) is system software that manages computer hardware and software resources and provides services to application programs.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829050"/>
            <a:ext cx="7239000" cy="58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PURPOSE  Coordinate resources, isolate programs and provide reliable services.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5067300"/>
            <a:ext cx="7239000" cy="58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  Relies on Linux for file storage, file access and I/O management.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15500" y="2381250"/>
            <a:ext cx="7239000" cy="876300"/>
            <a:chOff x="0" y="0"/>
            <a:chExt cx="9652000" cy="1168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52000" cy="1168400"/>
            </a:xfrm>
            <a:custGeom>
              <a:avLst/>
              <a:gdLst/>
              <a:ahLst/>
              <a:cxnLst/>
              <a:rect l="l" t="t" r="r" b="b"/>
              <a:pathLst>
                <a:path w="9652000" h="1168400">
                  <a:moveTo>
                    <a:pt x="26737" y="0"/>
                  </a:moveTo>
                  <a:lnTo>
                    <a:pt x="9625263" y="0"/>
                  </a:lnTo>
                  <a:cubicBezTo>
                    <a:pt x="9640029" y="0"/>
                    <a:pt x="9652000" y="11970"/>
                    <a:pt x="9652000" y="26737"/>
                  </a:cubicBezTo>
                  <a:lnTo>
                    <a:pt x="9652000" y="1141663"/>
                  </a:lnTo>
                  <a:cubicBezTo>
                    <a:pt x="9652000" y="1156430"/>
                    <a:pt x="9640029" y="1168400"/>
                    <a:pt x="9625263" y="1168400"/>
                  </a:cubicBezTo>
                  <a:lnTo>
                    <a:pt x="26737" y="1168400"/>
                  </a:lnTo>
                  <a:cubicBezTo>
                    <a:pt x="11970" y="1168400"/>
                    <a:pt x="0" y="1156430"/>
                    <a:pt x="0" y="11416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652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APPLICATIONS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15500" y="3714750"/>
            <a:ext cx="7239000" cy="1047750"/>
            <a:chOff x="0" y="0"/>
            <a:chExt cx="9652000" cy="139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52000" cy="1397000"/>
            </a:xfrm>
            <a:custGeom>
              <a:avLst/>
              <a:gdLst/>
              <a:ahLst/>
              <a:cxnLst/>
              <a:rect l="l" t="t" r="r" b="b"/>
              <a:pathLst>
                <a:path w="9652000" h="1397000">
                  <a:moveTo>
                    <a:pt x="26737" y="0"/>
                  </a:moveTo>
                  <a:lnTo>
                    <a:pt x="9625263" y="0"/>
                  </a:lnTo>
                  <a:cubicBezTo>
                    <a:pt x="9640029" y="0"/>
                    <a:pt x="9652000" y="11970"/>
                    <a:pt x="9652000" y="26737"/>
                  </a:cubicBezTo>
                  <a:lnTo>
                    <a:pt x="9652000" y="1370263"/>
                  </a:lnTo>
                  <a:cubicBezTo>
                    <a:pt x="9652000" y="1385030"/>
                    <a:pt x="9640029" y="1397000"/>
                    <a:pt x="9625263" y="1397000"/>
                  </a:cubicBezTo>
                  <a:lnTo>
                    <a:pt x="26737" y="1397000"/>
                  </a:lnTo>
                  <a:cubicBezTo>
                    <a:pt x="11970" y="1397000"/>
                    <a:pt x="0" y="1385030"/>
                    <a:pt x="0" y="13702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652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OPERATING SYSTEM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15500" y="5095875"/>
            <a:ext cx="7239000" cy="1143000"/>
            <a:chOff x="0" y="0"/>
            <a:chExt cx="9652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652000" cy="1524000"/>
            </a:xfrm>
            <a:custGeom>
              <a:avLst/>
              <a:gdLst/>
              <a:ahLst/>
              <a:cxnLst/>
              <a:rect l="l" t="t" r="r" b="b"/>
              <a:pathLst>
                <a:path w="9652000" h="1524000">
                  <a:moveTo>
                    <a:pt x="26737" y="0"/>
                  </a:moveTo>
                  <a:lnTo>
                    <a:pt x="9625263" y="0"/>
                  </a:lnTo>
                  <a:cubicBezTo>
                    <a:pt x="9640029" y="0"/>
                    <a:pt x="9652000" y="11970"/>
                    <a:pt x="9652000" y="26737"/>
                  </a:cubicBezTo>
                  <a:lnTo>
                    <a:pt x="9652000" y="1497263"/>
                  </a:lnTo>
                  <a:cubicBezTo>
                    <a:pt x="9652000" y="1512030"/>
                    <a:pt x="9640029" y="1524000"/>
                    <a:pt x="9625263" y="1524000"/>
                  </a:cubicBezTo>
                  <a:lnTo>
                    <a:pt x="26737" y="1524000"/>
                  </a:lnTo>
                  <a:cubicBezTo>
                    <a:pt x="11970" y="1524000"/>
                    <a:pt x="0" y="1512030"/>
                    <a:pt x="0" y="14972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0B1C31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652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PROCESS • MEMORY • FILE • DEVICE • SECURITY • I/O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15500" y="6667500"/>
            <a:ext cx="7239000" cy="876300"/>
            <a:chOff x="0" y="0"/>
            <a:chExt cx="9652000" cy="1168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52000" cy="1168400"/>
            </a:xfrm>
            <a:custGeom>
              <a:avLst/>
              <a:gdLst/>
              <a:ahLst/>
              <a:cxnLst/>
              <a:rect l="l" t="t" r="r" b="b"/>
              <a:pathLst>
                <a:path w="9652000" h="1168400">
                  <a:moveTo>
                    <a:pt x="26737" y="0"/>
                  </a:moveTo>
                  <a:lnTo>
                    <a:pt x="9625263" y="0"/>
                  </a:lnTo>
                  <a:cubicBezTo>
                    <a:pt x="9640029" y="0"/>
                    <a:pt x="9652000" y="11970"/>
                    <a:pt x="9652000" y="26737"/>
                  </a:cubicBezTo>
                  <a:lnTo>
                    <a:pt x="9652000" y="1141663"/>
                  </a:lnTo>
                  <a:cubicBezTo>
                    <a:pt x="9652000" y="1156430"/>
                    <a:pt x="9640029" y="1168400"/>
                    <a:pt x="9625263" y="1168400"/>
                  </a:cubicBezTo>
                  <a:lnTo>
                    <a:pt x="26737" y="1168400"/>
                  </a:lnTo>
                  <a:cubicBezTo>
                    <a:pt x="11970" y="1168400"/>
                    <a:pt x="0" y="1156430"/>
                    <a:pt x="0" y="1141663"/>
                  </a:cubicBezTo>
                  <a:lnTo>
                    <a:pt x="0" y="26737"/>
                  </a:lnTo>
                  <a:cubicBezTo>
                    <a:pt x="0" y="11970"/>
                    <a:pt x="11970" y="0"/>
                    <a:pt x="2673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6520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HARDWARE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3335000" y="3257550"/>
            <a:ext cx="0" cy="38100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3" name="AutoShape 23"/>
          <p:cNvSpPr/>
          <p:nvPr/>
        </p:nvSpPr>
        <p:spPr>
          <a:xfrm>
            <a:off x="13335000" y="4762500"/>
            <a:ext cx="0" cy="257175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>
            <a:off x="13335000" y="6238875"/>
            <a:ext cx="0" cy="352425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5" name="TextBox 25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File Management?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4668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File management is the process by which an operating system organises, stores, accesses, modifies and deletes files.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00" y="3714750"/>
            <a:ext cx="4953000" cy="1476375"/>
            <a:chOff x="0" y="0"/>
            <a:chExt cx="6604000" cy="19685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604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968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1000" y="336550"/>
              <a:ext cx="5842000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CREATE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381750" y="3714750"/>
            <a:ext cx="4953000" cy="1476375"/>
            <a:chOff x="0" y="0"/>
            <a:chExt cx="6604000" cy="19685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604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968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81000" y="336550"/>
              <a:ext cx="5842000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READ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49100" y="3714750"/>
            <a:ext cx="4953000" cy="1476375"/>
            <a:chOff x="0" y="0"/>
            <a:chExt cx="6604000" cy="19685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604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968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3B82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1000" y="336550"/>
              <a:ext cx="5842000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WRITE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5667375"/>
            <a:ext cx="4953000" cy="1476375"/>
            <a:chOff x="0" y="0"/>
            <a:chExt cx="6604000" cy="19685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604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968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81000" y="336550"/>
              <a:ext cx="5842000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MODIFY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81750" y="5667375"/>
            <a:ext cx="4953000" cy="1476375"/>
            <a:chOff x="0" y="0"/>
            <a:chExt cx="6604000" cy="19685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604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968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81000" y="336550"/>
              <a:ext cx="5842000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DELETE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849100" y="5667375"/>
            <a:ext cx="4953000" cy="1476375"/>
            <a:chOff x="0" y="0"/>
            <a:chExt cx="6604000" cy="19685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6604000" cy="1968500"/>
              <a:chOff x="0" y="0"/>
              <a:chExt cx="6604000" cy="19685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604000" cy="19685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9685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968500"/>
                    </a:lnTo>
                    <a:lnTo>
                      <a:pt x="0" y="1968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6604000" cy="200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81000" y="336550"/>
              <a:ext cx="5842000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METADATA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14400" y="8448675"/>
            <a:ext cx="1428750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  Assignments and student submissions are stored and managed through Linux filesystem operations.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 File Descriptor?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028700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file descriptor is a non-negative integer used by a Linux process to identify an open file or I/O resource.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305175"/>
            <a:ext cx="1000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PURPOSE  Gives every process a small, efficient handle for kernel-managed I/O.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4048125"/>
            <a:ext cx="9334500" cy="1619250"/>
            <a:chOff x="0" y="0"/>
            <a:chExt cx="12446000" cy="2159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46000" cy="2159000"/>
            </a:xfrm>
            <a:custGeom>
              <a:avLst/>
              <a:gdLst/>
              <a:ahLst/>
              <a:cxnLst/>
              <a:rect l="l" t="t" r="r" b="b"/>
              <a:pathLst>
                <a:path w="12446000" h="2159000">
                  <a:moveTo>
                    <a:pt x="0" y="0"/>
                  </a:moveTo>
                  <a:lnTo>
                    <a:pt x="12446000" y="0"/>
                  </a:lnTo>
                  <a:lnTo>
                    <a:pt x="12446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10243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446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4229100"/>
            <a:ext cx="87630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24D6E8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 fd = open("assignment.txt", O_RDONLY);</a:t>
            </a:r>
          </a:p>
          <a:p>
            <a:pPr algn="l">
              <a:lnSpc>
                <a:spcPts val="2790"/>
              </a:lnSpc>
            </a:pPr>
            <a:r>
              <a:rPr lang="en-US" sz="1800">
                <a:solidFill>
                  <a:srgbClr val="24D6E8"/>
                </a:solidFill>
                <a:latin typeface="IBM Plex Mono"/>
                <a:ea typeface="IBM Plex Mono"/>
                <a:cs typeface="IBM Plex Mono"/>
                <a:sym typeface="IBM Plex Mono"/>
              </a:rPr>
              <a:t>// if fd = 3, then 3 identifies the opened file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6515100"/>
            <a:ext cx="5905500" cy="1647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STANDARD FDs</a:t>
            </a:r>
          </a:p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0  Standard Input</a:t>
            </a:r>
          </a:p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1  Standard Output</a:t>
            </a:r>
          </a:p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2  Standard Error</a:t>
            </a:r>
          </a:p>
          <a:p>
            <a:pPr algn="l">
              <a:lnSpc>
                <a:spcPts val="2673"/>
              </a:lnSpc>
            </a:pPr>
            <a:r>
              <a:rPr lang="en-US" sz="1725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3+ Other open resources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477500" y="4953000"/>
            <a:ext cx="1428750" cy="952500"/>
            <a:chOff x="0" y="0"/>
            <a:chExt cx="1905000" cy="127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5000" cy="1270000"/>
            </a:xfrm>
            <a:custGeom>
              <a:avLst/>
              <a:gdLst/>
              <a:ahLst/>
              <a:cxnLst/>
              <a:rect l="l" t="t" r="r" b="b"/>
              <a:pathLst>
                <a:path w="1905000" h="1270000">
                  <a:moveTo>
                    <a:pt x="135467" y="0"/>
                  </a:moveTo>
                  <a:lnTo>
                    <a:pt x="1769533" y="0"/>
                  </a:lnTo>
                  <a:cubicBezTo>
                    <a:pt x="1844349" y="0"/>
                    <a:pt x="1905000" y="60650"/>
                    <a:pt x="1905000" y="135467"/>
                  </a:cubicBezTo>
                  <a:lnTo>
                    <a:pt x="1905000" y="1134533"/>
                  </a:lnTo>
                  <a:cubicBezTo>
                    <a:pt x="1905000" y="1209350"/>
                    <a:pt x="1844349" y="1270000"/>
                    <a:pt x="1769533" y="1270000"/>
                  </a:cubicBezTo>
                  <a:lnTo>
                    <a:pt x="135467" y="1270000"/>
                  </a:lnTo>
                  <a:cubicBezTo>
                    <a:pt x="60650" y="1270000"/>
                    <a:pt x="0" y="1209350"/>
                    <a:pt x="0" y="1134533"/>
                  </a:cubicBezTo>
                  <a:lnTo>
                    <a:pt x="0" y="135467"/>
                  </a:lnTo>
                  <a:cubicBezTo>
                    <a:pt x="0" y="60650"/>
                    <a:pt x="60650" y="0"/>
                    <a:pt x="13546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05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open()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1906250" y="5429250"/>
            <a:ext cx="4572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2477750" y="4953000"/>
            <a:ext cx="1428750" cy="952500"/>
            <a:chOff x="0" y="0"/>
            <a:chExt cx="1905000" cy="127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5000" cy="1270000"/>
            </a:xfrm>
            <a:custGeom>
              <a:avLst/>
              <a:gdLst/>
              <a:ahLst/>
              <a:cxnLst/>
              <a:rect l="l" t="t" r="r" b="b"/>
              <a:pathLst>
                <a:path w="1905000" h="1270000">
                  <a:moveTo>
                    <a:pt x="135467" y="0"/>
                  </a:moveTo>
                  <a:lnTo>
                    <a:pt x="1769533" y="0"/>
                  </a:lnTo>
                  <a:cubicBezTo>
                    <a:pt x="1844349" y="0"/>
                    <a:pt x="1905000" y="60650"/>
                    <a:pt x="1905000" y="135467"/>
                  </a:cubicBezTo>
                  <a:lnTo>
                    <a:pt x="1905000" y="1134533"/>
                  </a:lnTo>
                  <a:cubicBezTo>
                    <a:pt x="1905000" y="1209350"/>
                    <a:pt x="1844349" y="1270000"/>
                    <a:pt x="1769533" y="1270000"/>
                  </a:cubicBezTo>
                  <a:lnTo>
                    <a:pt x="135467" y="1270000"/>
                  </a:lnTo>
                  <a:cubicBezTo>
                    <a:pt x="60650" y="1270000"/>
                    <a:pt x="0" y="1209350"/>
                    <a:pt x="0" y="1134533"/>
                  </a:cubicBezTo>
                  <a:lnTo>
                    <a:pt x="0" y="135467"/>
                  </a:lnTo>
                  <a:cubicBezTo>
                    <a:pt x="0" y="60650"/>
                    <a:pt x="60650" y="0"/>
                    <a:pt x="135467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05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FD = 3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3906500" y="5429250"/>
            <a:ext cx="409575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4430375" y="4953000"/>
            <a:ext cx="1809750" cy="952500"/>
            <a:chOff x="0" y="0"/>
            <a:chExt cx="2413000" cy="127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13000" cy="1270000"/>
            </a:xfrm>
            <a:custGeom>
              <a:avLst/>
              <a:gdLst/>
              <a:ahLst/>
              <a:cxnLst/>
              <a:rect l="l" t="t" r="r" b="b"/>
              <a:pathLst>
                <a:path w="2413000" h="1270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163053"/>
                  </a:lnTo>
                  <a:cubicBezTo>
                    <a:pt x="2413000" y="1191417"/>
                    <a:pt x="2401732" y="1218619"/>
                    <a:pt x="2381676" y="1238676"/>
                  </a:cubicBezTo>
                  <a:cubicBezTo>
                    <a:pt x="2361619" y="1258732"/>
                    <a:pt x="2334417" y="1270000"/>
                    <a:pt x="2306053" y="1270000"/>
                  </a:cubicBezTo>
                  <a:lnTo>
                    <a:pt x="106947" y="1270000"/>
                  </a:lnTo>
                  <a:cubicBezTo>
                    <a:pt x="78583" y="1270000"/>
                    <a:pt x="51381" y="1258732"/>
                    <a:pt x="31324" y="1238676"/>
                  </a:cubicBezTo>
                  <a:cubicBezTo>
                    <a:pt x="11268" y="1218619"/>
                    <a:pt x="0" y="1191417"/>
                    <a:pt x="0" y="11630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413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read() / write()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6240125" y="5429250"/>
            <a:ext cx="219075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6" name="Group 26"/>
          <p:cNvGrpSpPr/>
          <p:nvPr/>
        </p:nvGrpSpPr>
        <p:grpSpPr>
          <a:xfrm>
            <a:off x="16573500" y="4953000"/>
            <a:ext cx="1428750" cy="952500"/>
            <a:chOff x="0" y="0"/>
            <a:chExt cx="1905000" cy="1270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05000" cy="1270000"/>
            </a:xfrm>
            <a:custGeom>
              <a:avLst/>
              <a:gdLst/>
              <a:ahLst/>
              <a:cxnLst/>
              <a:rect l="l" t="t" r="r" b="b"/>
              <a:pathLst>
                <a:path w="1905000" h="1270000">
                  <a:moveTo>
                    <a:pt x="135467" y="0"/>
                  </a:moveTo>
                  <a:lnTo>
                    <a:pt x="1769533" y="0"/>
                  </a:lnTo>
                  <a:cubicBezTo>
                    <a:pt x="1844349" y="0"/>
                    <a:pt x="1905000" y="60650"/>
                    <a:pt x="1905000" y="135467"/>
                  </a:cubicBezTo>
                  <a:lnTo>
                    <a:pt x="1905000" y="1134533"/>
                  </a:lnTo>
                  <a:cubicBezTo>
                    <a:pt x="1905000" y="1209350"/>
                    <a:pt x="1844349" y="1270000"/>
                    <a:pt x="1769533" y="1270000"/>
                  </a:cubicBezTo>
                  <a:lnTo>
                    <a:pt x="135467" y="1270000"/>
                  </a:lnTo>
                  <a:cubicBezTo>
                    <a:pt x="60650" y="1270000"/>
                    <a:pt x="0" y="1209350"/>
                    <a:pt x="0" y="1134533"/>
                  </a:cubicBezTo>
                  <a:lnTo>
                    <a:pt x="0" y="135467"/>
                  </a:lnTo>
                  <a:cubicBezTo>
                    <a:pt x="0" y="60650"/>
                    <a:pt x="60650" y="0"/>
                    <a:pt x="13546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905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close()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 System Call?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4287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system call is a mechanism through which a user-level program requests a service from the operating system kernel.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257550"/>
            <a:ext cx="857250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PURPOSE  Cross the protected user–kernel boundary safely.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7750" y="5238750"/>
            <a:ext cx="3238500" cy="1238250"/>
            <a:chOff x="0" y="0"/>
            <a:chExt cx="4318000" cy="165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59765" y="0"/>
                  </a:moveTo>
                  <a:lnTo>
                    <a:pt x="4258235" y="0"/>
                  </a:lnTo>
                  <a:cubicBezTo>
                    <a:pt x="4274086" y="0"/>
                    <a:pt x="4289287" y="6297"/>
                    <a:pt x="4300495" y="17505"/>
                  </a:cubicBezTo>
                  <a:cubicBezTo>
                    <a:pt x="4311703" y="28713"/>
                    <a:pt x="4318000" y="43914"/>
                    <a:pt x="4318000" y="59765"/>
                  </a:cubicBezTo>
                  <a:lnTo>
                    <a:pt x="4318000" y="1591235"/>
                  </a:lnTo>
                  <a:cubicBezTo>
                    <a:pt x="4318000" y="1607086"/>
                    <a:pt x="4311703" y="1622287"/>
                    <a:pt x="4300495" y="1633495"/>
                  </a:cubicBezTo>
                  <a:cubicBezTo>
                    <a:pt x="4289287" y="1644703"/>
                    <a:pt x="4274086" y="1651000"/>
                    <a:pt x="4258235" y="1651000"/>
                  </a:cubicBezTo>
                  <a:lnTo>
                    <a:pt x="59765" y="1651000"/>
                  </a:lnTo>
                  <a:cubicBezTo>
                    <a:pt x="43914" y="1651000"/>
                    <a:pt x="28713" y="1644703"/>
                    <a:pt x="17505" y="1633495"/>
                  </a:cubicBezTo>
                  <a:cubicBezTo>
                    <a:pt x="6297" y="1622287"/>
                    <a:pt x="0" y="1607086"/>
                    <a:pt x="0" y="1591235"/>
                  </a:cubicBezTo>
                  <a:lnTo>
                    <a:pt x="0" y="59765"/>
                  </a:lnTo>
                  <a:cubicBezTo>
                    <a:pt x="0" y="43914"/>
                    <a:pt x="6297" y="28713"/>
                    <a:pt x="17505" y="17505"/>
                  </a:cubicBezTo>
                  <a:cubicBezTo>
                    <a:pt x="28713" y="6297"/>
                    <a:pt x="43914" y="0"/>
                    <a:pt x="59765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318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APPLICATION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286250" y="5857875"/>
            <a:ext cx="5715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/>
          <p:cNvGrpSpPr/>
          <p:nvPr/>
        </p:nvGrpSpPr>
        <p:grpSpPr>
          <a:xfrm>
            <a:off x="5048250" y="5238750"/>
            <a:ext cx="3238500" cy="1238250"/>
            <a:chOff x="0" y="0"/>
            <a:chExt cx="4318000" cy="165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59765" y="0"/>
                  </a:moveTo>
                  <a:lnTo>
                    <a:pt x="4258235" y="0"/>
                  </a:lnTo>
                  <a:cubicBezTo>
                    <a:pt x="4274086" y="0"/>
                    <a:pt x="4289287" y="6297"/>
                    <a:pt x="4300495" y="17505"/>
                  </a:cubicBezTo>
                  <a:cubicBezTo>
                    <a:pt x="4311703" y="28713"/>
                    <a:pt x="4318000" y="43914"/>
                    <a:pt x="4318000" y="59765"/>
                  </a:cubicBezTo>
                  <a:lnTo>
                    <a:pt x="4318000" y="1591235"/>
                  </a:lnTo>
                  <a:cubicBezTo>
                    <a:pt x="4318000" y="1607086"/>
                    <a:pt x="4311703" y="1622287"/>
                    <a:pt x="4300495" y="1633495"/>
                  </a:cubicBezTo>
                  <a:cubicBezTo>
                    <a:pt x="4289287" y="1644703"/>
                    <a:pt x="4274086" y="1651000"/>
                    <a:pt x="4258235" y="1651000"/>
                  </a:cubicBezTo>
                  <a:lnTo>
                    <a:pt x="59765" y="1651000"/>
                  </a:lnTo>
                  <a:cubicBezTo>
                    <a:pt x="43914" y="1651000"/>
                    <a:pt x="28713" y="1644703"/>
                    <a:pt x="17505" y="1633495"/>
                  </a:cubicBezTo>
                  <a:cubicBezTo>
                    <a:pt x="6297" y="1622287"/>
                    <a:pt x="0" y="1607086"/>
                    <a:pt x="0" y="1591235"/>
                  </a:cubicBezTo>
                  <a:lnTo>
                    <a:pt x="0" y="59765"/>
                  </a:lnTo>
                  <a:cubicBezTo>
                    <a:pt x="0" y="43914"/>
                    <a:pt x="6297" y="28713"/>
                    <a:pt x="17505" y="17505"/>
                  </a:cubicBezTo>
                  <a:cubicBezTo>
                    <a:pt x="28713" y="6297"/>
                    <a:pt x="43914" y="0"/>
                    <a:pt x="59765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318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SYSTEM CALL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286750" y="5857875"/>
            <a:ext cx="5715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9048750" y="5238750"/>
            <a:ext cx="3238500" cy="1238250"/>
            <a:chOff x="0" y="0"/>
            <a:chExt cx="4318000" cy="1651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59765" y="0"/>
                  </a:moveTo>
                  <a:lnTo>
                    <a:pt x="4258235" y="0"/>
                  </a:lnTo>
                  <a:cubicBezTo>
                    <a:pt x="4274086" y="0"/>
                    <a:pt x="4289287" y="6297"/>
                    <a:pt x="4300495" y="17505"/>
                  </a:cubicBezTo>
                  <a:cubicBezTo>
                    <a:pt x="4311703" y="28713"/>
                    <a:pt x="4318000" y="43914"/>
                    <a:pt x="4318000" y="59765"/>
                  </a:cubicBezTo>
                  <a:lnTo>
                    <a:pt x="4318000" y="1591235"/>
                  </a:lnTo>
                  <a:cubicBezTo>
                    <a:pt x="4318000" y="1607086"/>
                    <a:pt x="4311703" y="1622287"/>
                    <a:pt x="4300495" y="1633495"/>
                  </a:cubicBezTo>
                  <a:cubicBezTo>
                    <a:pt x="4289287" y="1644703"/>
                    <a:pt x="4274086" y="1651000"/>
                    <a:pt x="4258235" y="1651000"/>
                  </a:cubicBezTo>
                  <a:lnTo>
                    <a:pt x="59765" y="1651000"/>
                  </a:lnTo>
                  <a:cubicBezTo>
                    <a:pt x="43914" y="1651000"/>
                    <a:pt x="28713" y="1644703"/>
                    <a:pt x="17505" y="1633495"/>
                  </a:cubicBezTo>
                  <a:cubicBezTo>
                    <a:pt x="6297" y="1622287"/>
                    <a:pt x="0" y="1607086"/>
                    <a:pt x="0" y="1591235"/>
                  </a:cubicBezTo>
                  <a:lnTo>
                    <a:pt x="0" y="59765"/>
                  </a:lnTo>
                  <a:cubicBezTo>
                    <a:pt x="0" y="43914"/>
                    <a:pt x="6297" y="28713"/>
                    <a:pt x="17505" y="17505"/>
                  </a:cubicBezTo>
                  <a:cubicBezTo>
                    <a:pt x="28713" y="6297"/>
                    <a:pt x="43914" y="0"/>
                    <a:pt x="59765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318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LINUX KERNEL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2287250" y="5857875"/>
            <a:ext cx="5715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3049250" y="5238750"/>
            <a:ext cx="3238500" cy="1238250"/>
            <a:chOff x="0" y="0"/>
            <a:chExt cx="4318000" cy="1651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59765" y="0"/>
                  </a:moveTo>
                  <a:lnTo>
                    <a:pt x="4258235" y="0"/>
                  </a:lnTo>
                  <a:cubicBezTo>
                    <a:pt x="4274086" y="0"/>
                    <a:pt x="4289287" y="6297"/>
                    <a:pt x="4300495" y="17505"/>
                  </a:cubicBezTo>
                  <a:cubicBezTo>
                    <a:pt x="4311703" y="28713"/>
                    <a:pt x="4318000" y="43914"/>
                    <a:pt x="4318000" y="59765"/>
                  </a:cubicBezTo>
                  <a:lnTo>
                    <a:pt x="4318000" y="1591235"/>
                  </a:lnTo>
                  <a:cubicBezTo>
                    <a:pt x="4318000" y="1607086"/>
                    <a:pt x="4311703" y="1622287"/>
                    <a:pt x="4300495" y="1633495"/>
                  </a:cubicBezTo>
                  <a:cubicBezTo>
                    <a:pt x="4289287" y="1644703"/>
                    <a:pt x="4274086" y="1651000"/>
                    <a:pt x="4258235" y="1651000"/>
                  </a:cubicBezTo>
                  <a:lnTo>
                    <a:pt x="59765" y="1651000"/>
                  </a:lnTo>
                  <a:cubicBezTo>
                    <a:pt x="43914" y="1651000"/>
                    <a:pt x="28713" y="1644703"/>
                    <a:pt x="17505" y="1633495"/>
                  </a:cubicBezTo>
                  <a:cubicBezTo>
                    <a:pt x="6297" y="1622287"/>
                    <a:pt x="0" y="1607086"/>
                    <a:pt x="0" y="1591235"/>
                  </a:cubicBezTo>
                  <a:lnTo>
                    <a:pt x="0" y="59765"/>
                  </a:lnTo>
                  <a:cubicBezTo>
                    <a:pt x="0" y="43914"/>
                    <a:pt x="6297" y="28713"/>
                    <a:pt x="17505" y="17505"/>
                  </a:cubicBezTo>
                  <a:cubicBezTo>
                    <a:pt x="28713" y="6297"/>
                    <a:pt x="43914" y="0"/>
                    <a:pt x="59765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318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FILESYSTEM / HARDWARE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14400" y="7781925"/>
            <a:ext cx="1381125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  The C backend uses Linux system calls to request file operations from the kernel.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File I/O?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4287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File I/O (Input/Output) refers to operations used to read data from files and write data to files.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43000" y="3714750"/>
            <a:ext cx="6762750" cy="2381250"/>
            <a:chOff x="0" y="0"/>
            <a:chExt cx="9017000" cy="317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17000" cy="3175000"/>
            </a:xfrm>
            <a:custGeom>
              <a:avLst/>
              <a:gdLst/>
              <a:ahLst/>
              <a:cxnLst/>
              <a:rect l="l" t="t" r="r" b="b"/>
              <a:pathLst>
                <a:path w="9017000" h="3175000">
                  <a:moveTo>
                    <a:pt x="0" y="0"/>
                  </a:moveTo>
                  <a:lnTo>
                    <a:pt x="9017000" y="0"/>
                  </a:lnTo>
                  <a:lnTo>
                    <a:pt x="9017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10243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0170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28750" y="4124325"/>
            <a:ext cx="6191250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600" b="1">
                <a:solidFill>
                  <a:srgbClr val="24D6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</a:t>
            </a:r>
          </a:p>
          <a:p>
            <a:pPr algn="ctr">
              <a:lnSpc>
                <a:spcPts val="4500"/>
              </a:lnSpc>
            </a:pPr>
            <a:r>
              <a:rPr lang="en-US" sz="3600" b="1">
                <a:solidFill>
                  <a:srgbClr val="24D6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File → Program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382250" y="3714750"/>
            <a:ext cx="6762750" cy="2381250"/>
            <a:chOff x="0" y="0"/>
            <a:chExt cx="9017000" cy="317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17000" cy="3175000"/>
            </a:xfrm>
            <a:custGeom>
              <a:avLst/>
              <a:gdLst/>
              <a:ahLst/>
              <a:cxnLst/>
              <a:rect l="l" t="t" r="r" b="b"/>
              <a:pathLst>
                <a:path w="9017000" h="3175000">
                  <a:moveTo>
                    <a:pt x="0" y="0"/>
                  </a:moveTo>
                  <a:lnTo>
                    <a:pt x="9017000" y="0"/>
                  </a:lnTo>
                  <a:lnTo>
                    <a:pt x="9017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10243B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17000" cy="321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668000" y="4124325"/>
            <a:ext cx="6191250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600" b="1">
                <a:solidFill>
                  <a:srgbClr val="45E0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</a:t>
            </a:r>
          </a:p>
          <a:p>
            <a:pPr algn="ctr">
              <a:lnSpc>
                <a:spcPts val="4500"/>
              </a:lnSpc>
            </a:pPr>
            <a:r>
              <a:rPr lang="en-US" sz="3600" b="1">
                <a:solidFill>
                  <a:srgbClr val="45E0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 → File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71750" y="7191375"/>
            <a:ext cx="13144500" cy="68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F5F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USES</a:t>
            </a:r>
          </a:p>
          <a:p>
            <a:pPr algn="ctr">
              <a:lnSpc>
                <a:spcPts val="2812"/>
              </a:lnSpc>
            </a:pPr>
            <a:r>
              <a:rPr lang="en-US" sz="1875">
                <a:solidFill>
                  <a:srgbClr val="F5F9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Read assignments  •  Write submissions  •  Append shared notes  •  Read metadata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Basic File I/O System Calls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2857500"/>
            <a:ext cx="3714750" cy="2952750"/>
            <a:chOff x="0" y="0"/>
            <a:chExt cx="4953000" cy="3937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953000" cy="3937000"/>
              <a:chOff x="0" y="0"/>
              <a:chExt cx="4953000" cy="3937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953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93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3B82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953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55600" y="415925"/>
              <a:ext cx="4241800" cy="696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5600" y="1558925"/>
              <a:ext cx="4241800" cy="772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8BDD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Opens or creates a file and returns a file descriptor.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4629150" y="4333875"/>
            <a:ext cx="3429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5086350" y="2857500"/>
            <a:ext cx="3714750" cy="2952750"/>
            <a:chOff x="0" y="0"/>
            <a:chExt cx="4953000" cy="3937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953000" cy="3937000"/>
              <a:chOff x="0" y="0"/>
              <a:chExt cx="4953000" cy="3937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953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93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953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55600" y="415925"/>
              <a:ext cx="4241800" cy="696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read()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00" y="1558925"/>
              <a:ext cx="4241800" cy="772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8BDD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Reads data from an open file into a memory buffer.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8801100" y="4333875"/>
            <a:ext cx="3429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9258300" y="2857500"/>
            <a:ext cx="3714750" cy="2952750"/>
            <a:chOff x="0" y="0"/>
            <a:chExt cx="4953000" cy="3937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4953000" cy="3937000"/>
              <a:chOff x="0" y="0"/>
              <a:chExt cx="4953000" cy="3937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953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93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4953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55600" y="415925"/>
              <a:ext cx="4241800" cy="696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write()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600" y="1558925"/>
              <a:ext cx="4241800" cy="772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8BDD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Writes data from memory to an open file.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12973050" y="4333875"/>
            <a:ext cx="3429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13430250" y="2857500"/>
            <a:ext cx="3714750" cy="2952750"/>
            <a:chOff x="0" y="0"/>
            <a:chExt cx="4953000" cy="3937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4953000" cy="3937000"/>
              <a:chOff x="0" y="0"/>
              <a:chExt cx="4953000" cy="3937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953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937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4953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55600" y="415925"/>
              <a:ext cx="4241800" cy="696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close()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00" y="1558925"/>
              <a:ext cx="4241800" cy="772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8BDD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Closes a descriptor and releases its resource.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14400" y="7210425"/>
            <a:ext cx="1428750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  Every assignment view or submission follows this descriptor lifecycle.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Additional Linux File Operations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2667000"/>
            <a:ext cx="7715250" cy="2238375"/>
            <a:chOff x="0" y="0"/>
            <a:chExt cx="10287000" cy="29845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287000" cy="2984500"/>
              <a:chOff x="0" y="0"/>
              <a:chExt cx="10287000" cy="29845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287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29845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0287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06400" y="307975"/>
              <a:ext cx="3175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lseek()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6400" y="1177925"/>
              <a:ext cx="9271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8BDD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Changes the current file offset associated with an open file.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6400" y="2232025"/>
              <a:ext cx="9271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USE  Resume / random access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01150" y="2667000"/>
            <a:ext cx="7715250" cy="2238375"/>
            <a:chOff x="0" y="0"/>
            <a:chExt cx="10287000" cy="29845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0287000" cy="2984500"/>
              <a:chOff x="0" y="0"/>
              <a:chExt cx="10287000" cy="2984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287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29845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287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06400" y="307975"/>
              <a:ext cx="3175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dup()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400" y="1177925"/>
              <a:ext cx="9271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8BDD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Creates a duplicate descriptor for the same open file description.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6400" y="2232025"/>
              <a:ext cx="9271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USE  Redirect / share I/O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5524500"/>
            <a:ext cx="7715250" cy="2238375"/>
            <a:chOff x="0" y="0"/>
            <a:chExt cx="10287000" cy="2984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0287000" cy="2984500"/>
              <a:chOff x="0" y="0"/>
              <a:chExt cx="10287000" cy="29845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287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29845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0287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06400" y="307975"/>
              <a:ext cx="3175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stat()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6400" y="1177925"/>
              <a:ext cx="9271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8BDD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Retrieves metadata and information about a file.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6400" y="2232025"/>
              <a:ext cx="9271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USE  Show size, time, status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201150" y="5524500"/>
            <a:ext cx="7715250" cy="2238375"/>
            <a:chOff x="0" y="0"/>
            <a:chExt cx="10287000" cy="29845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0287000" cy="2984500"/>
              <a:chOff x="0" y="0"/>
              <a:chExt cx="10287000" cy="29845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287000" cy="29845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29845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10287000" cy="3022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406400" y="307975"/>
              <a:ext cx="3175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unlink()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6400" y="1177925"/>
              <a:ext cx="9271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A8BDD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Removes a file name from the filesystem.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6400" y="2232025"/>
              <a:ext cx="9271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USE  Delete a submission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File Opening Flags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381125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file-opening flag specifies how a program wants Linux to open or access a file.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00" y="3381375"/>
            <a:ext cx="3143250" cy="666750"/>
            <a:chOff x="0" y="0"/>
            <a:chExt cx="4191000" cy="889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27424"/>
                  </a:lnTo>
                  <a:cubicBezTo>
                    <a:pt x="4191000" y="861432"/>
                    <a:pt x="4163432" y="889000"/>
                    <a:pt x="4129424" y="889000"/>
                  </a:cubicBezTo>
                  <a:lnTo>
                    <a:pt x="61576" y="889000"/>
                  </a:lnTo>
                  <a:cubicBezTo>
                    <a:pt x="27568" y="889000"/>
                    <a:pt x="0" y="861432"/>
                    <a:pt x="0" y="82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191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O_RDONLY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762500" y="3505200"/>
            <a:ext cx="8572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 for reading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96250" y="3714750"/>
            <a:ext cx="8572500" cy="0"/>
          </a:xfrm>
          <a:prstGeom prst="line">
            <a:avLst/>
          </a:prstGeom>
          <a:ln w="9525" cap="flat">
            <a:solidFill>
              <a:srgbClr val="28425E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914400" y="4257675"/>
            <a:ext cx="3143250" cy="666750"/>
            <a:chOff x="0" y="0"/>
            <a:chExt cx="4191000" cy="889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27424"/>
                  </a:lnTo>
                  <a:cubicBezTo>
                    <a:pt x="4191000" y="861432"/>
                    <a:pt x="4163432" y="889000"/>
                    <a:pt x="4129424" y="889000"/>
                  </a:cubicBezTo>
                  <a:lnTo>
                    <a:pt x="61576" y="889000"/>
                  </a:lnTo>
                  <a:cubicBezTo>
                    <a:pt x="27568" y="889000"/>
                    <a:pt x="0" y="861432"/>
                    <a:pt x="0" y="82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191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O_WRONLY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762500" y="4381500"/>
            <a:ext cx="8572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 for writing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96250" y="4591050"/>
            <a:ext cx="8572500" cy="0"/>
          </a:xfrm>
          <a:prstGeom prst="line">
            <a:avLst/>
          </a:prstGeom>
          <a:ln w="9525" cap="flat">
            <a:solidFill>
              <a:srgbClr val="28425E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914400" y="5133975"/>
            <a:ext cx="3143250" cy="666750"/>
            <a:chOff x="0" y="0"/>
            <a:chExt cx="4191000" cy="889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27424"/>
                  </a:lnTo>
                  <a:cubicBezTo>
                    <a:pt x="4191000" y="861432"/>
                    <a:pt x="4163432" y="889000"/>
                    <a:pt x="4129424" y="889000"/>
                  </a:cubicBezTo>
                  <a:lnTo>
                    <a:pt x="61576" y="889000"/>
                  </a:lnTo>
                  <a:cubicBezTo>
                    <a:pt x="27568" y="889000"/>
                    <a:pt x="0" y="861432"/>
                    <a:pt x="0" y="82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191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O_CREAT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762500" y="5257800"/>
            <a:ext cx="8572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Create if absent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096250" y="5467350"/>
            <a:ext cx="8572500" cy="0"/>
          </a:xfrm>
          <a:prstGeom prst="line">
            <a:avLst/>
          </a:prstGeom>
          <a:ln w="9525" cap="flat">
            <a:solidFill>
              <a:srgbClr val="28425E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914400" y="6010275"/>
            <a:ext cx="3143250" cy="666750"/>
            <a:chOff x="0" y="0"/>
            <a:chExt cx="4191000" cy="889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27424"/>
                  </a:lnTo>
                  <a:cubicBezTo>
                    <a:pt x="4191000" y="861432"/>
                    <a:pt x="4163432" y="889000"/>
                    <a:pt x="4129424" y="889000"/>
                  </a:cubicBezTo>
                  <a:lnTo>
                    <a:pt x="61576" y="889000"/>
                  </a:lnTo>
                  <a:cubicBezTo>
                    <a:pt x="27568" y="889000"/>
                    <a:pt x="0" y="861432"/>
                    <a:pt x="0" y="82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191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O_APPEND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762500" y="6134100"/>
            <a:ext cx="8572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Write at end</a:t>
            </a:r>
          </a:p>
        </p:txBody>
      </p:sp>
      <p:sp>
        <p:nvSpPr>
          <p:cNvPr id="27" name="AutoShape 27"/>
          <p:cNvSpPr/>
          <p:nvPr/>
        </p:nvSpPr>
        <p:spPr>
          <a:xfrm>
            <a:off x="8096250" y="6343650"/>
            <a:ext cx="8572500" cy="0"/>
          </a:xfrm>
          <a:prstGeom prst="line">
            <a:avLst/>
          </a:prstGeom>
          <a:ln w="9525" cap="flat">
            <a:solidFill>
              <a:srgbClr val="28425E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914400" y="6886575"/>
            <a:ext cx="3143250" cy="666750"/>
            <a:chOff x="0" y="0"/>
            <a:chExt cx="4191000" cy="889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27424"/>
                  </a:lnTo>
                  <a:cubicBezTo>
                    <a:pt x="4191000" y="861432"/>
                    <a:pt x="4163432" y="889000"/>
                    <a:pt x="4129424" y="889000"/>
                  </a:cubicBezTo>
                  <a:lnTo>
                    <a:pt x="61576" y="889000"/>
                  </a:lnTo>
                  <a:cubicBezTo>
                    <a:pt x="27568" y="889000"/>
                    <a:pt x="0" y="861432"/>
                    <a:pt x="0" y="827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191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O_TRUNC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762500" y="7010400"/>
            <a:ext cx="8572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Remove old contents</a:t>
            </a:r>
          </a:p>
        </p:txBody>
      </p:sp>
      <p:sp>
        <p:nvSpPr>
          <p:cNvPr id="32" name="AutoShape 32"/>
          <p:cNvSpPr/>
          <p:nvPr/>
        </p:nvSpPr>
        <p:spPr>
          <a:xfrm>
            <a:off x="8096250" y="7219950"/>
            <a:ext cx="8572500" cy="0"/>
          </a:xfrm>
          <a:prstGeom prst="line">
            <a:avLst/>
          </a:prstGeom>
          <a:ln w="9525" cap="flat">
            <a:solidFill>
              <a:srgbClr val="28425E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914400" y="8162925"/>
            <a:ext cx="1428750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  Flags enforce read, write, create, append and replace behaviours.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CampusHub?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4287500" cy="68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 is an academic file and collaboration portal that demonstrates Linux file-management concepts through real academic workflows.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4810125"/>
            <a:ext cx="2286000" cy="1143000"/>
            <a:chOff x="0" y="0"/>
            <a:chExt cx="3048000" cy="152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84667" y="0"/>
                  </a:moveTo>
                  <a:lnTo>
                    <a:pt x="2963333" y="0"/>
                  </a:lnTo>
                  <a:cubicBezTo>
                    <a:pt x="3010093" y="0"/>
                    <a:pt x="3048000" y="37907"/>
                    <a:pt x="3048000" y="84667"/>
                  </a:cubicBezTo>
                  <a:lnTo>
                    <a:pt x="3048000" y="1439333"/>
                  </a:lnTo>
                  <a:cubicBezTo>
                    <a:pt x="3048000" y="1486093"/>
                    <a:pt x="3010093" y="1524000"/>
                    <a:pt x="2963333" y="1524000"/>
                  </a:cubicBezTo>
                  <a:lnTo>
                    <a:pt x="84667" y="1524000"/>
                  </a:lnTo>
                  <a:cubicBezTo>
                    <a:pt x="37907" y="1524000"/>
                    <a:pt x="0" y="1486093"/>
                    <a:pt x="0" y="1439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CAMPUSHUB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2952750" y="5381625"/>
            <a:ext cx="28575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3381375" y="4810125"/>
            <a:ext cx="2571750" cy="1143000"/>
            <a:chOff x="0" y="0"/>
            <a:chExt cx="3429000" cy="152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29000" cy="1524000"/>
            </a:xfrm>
            <a:custGeom>
              <a:avLst/>
              <a:gdLst/>
              <a:ahLst/>
              <a:cxnLst/>
              <a:rect l="l" t="t" r="r" b="b"/>
              <a:pathLst>
                <a:path w="3429000" h="1524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448741"/>
                  </a:lnTo>
                  <a:cubicBezTo>
                    <a:pt x="3429000" y="1490305"/>
                    <a:pt x="3395305" y="1524000"/>
                    <a:pt x="3353741" y="1524000"/>
                  </a:cubicBezTo>
                  <a:lnTo>
                    <a:pt x="75259" y="1524000"/>
                  </a:lnTo>
                  <a:cubicBezTo>
                    <a:pt x="33695" y="1524000"/>
                    <a:pt x="0" y="1490305"/>
                    <a:pt x="0" y="1448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429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FACULTY + STUDENT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PORTALS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5953125" y="5381625"/>
            <a:ext cx="428625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6524625" y="4810125"/>
            <a:ext cx="2286000" cy="1143000"/>
            <a:chOff x="0" y="0"/>
            <a:chExt cx="3048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84667" y="0"/>
                  </a:moveTo>
                  <a:lnTo>
                    <a:pt x="2963333" y="0"/>
                  </a:lnTo>
                  <a:cubicBezTo>
                    <a:pt x="3010093" y="0"/>
                    <a:pt x="3048000" y="37907"/>
                    <a:pt x="3048000" y="84667"/>
                  </a:cubicBezTo>
                  <a:lnTo>
                    <a:pt x="3048000" y="1439333"/>
                  </a:lnTo>
                  <a:cubicBezTo>
                    <a:pt x="3048000" y="1486093"/>
                    <a:pt x="3010093" y="1524000"/>
                    <a:pt x="2963333" y="1524000"/>
                  </a:cubicBezTo>
                  <a:lnTo>
                    <a:pt x="84667" y="1524000"/>
                  </a:lnTo>
                  <a:cubicBezTo>
                    <a:pt x="37907" y="1524000"/>
                    <a:pt x="0" y="1486093"/>
                    <a:pt x="0" y="1439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 BACKEND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8810625" y="5381625"/>
            <a:ext cx="428625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0" name="Group 20"/>
          <p:cNvGrpSpPr/>
          <p:nvPr/>
        </p:nvGrpSpPr>
        <p:grpSpPr>
          <a:xfrm>
            <a:off x="9382125" y="4810125"/>
            <a:ext cx="2286000" cy="1143000"/>
            <a:chOff x="0" y="0"/>
            <a:chExt cx="3048000" cy="152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84667" y="0"/>
                  </a:moveTo>
                  <a:lnTo>
                    <a:pt x="2963333" y="0"/>
                  </a:lnTo>
                  <a:cubicBezTo>
                    <a:pt x="3010093" y="0"/>
                    <a:pt x="3048000" y="37907"/>
                    <a:pt x="3048000" y="84667"/>
                  </a:cubicBezTo>
                  <a:lnTo>
                    <a:pt x="3048000" y="1439333"/>
                  </a:lnTo>
                  <a:cubicBezTo>
                    <a:pt x="3048000" y="1486093"/>
                    <a:pt x="3010093" y="1524000"/>
                    <a:pt x="2963333" y="1524000"/>
                  </a:cubicBezTo>
                  <a:lnTo>
                    <a:pt x="84667" y="1524000"/>
                  </a:lnTo>
                  <a:cubicBezTo>
                    <a:pt x="37907" y="1524000"/>
                    <a:pt x="0" y="1486093"/>
                    <a:pt x="0" y="1439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LINUX SYSTEM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CALLS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1668125" y="5381625"/>
            <a:ext cx="47625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4" name="Group 24"/>
          <p:cNvGrpSpPr/>
          <p:nvPr/>
        </p:nvGrpSpPr>
        <p:grpSpPr>
          <a:xfrm>
            <a:off x="12287250" y="4810125"/>
            <a:ext cx="2286000" cy="1143000"/>
            <a:chOff x="0" y="0"/>
            <a:chExt cx="3048000" cy="1524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84667" y="0"/>
                  </a:moveTo>
                  <a:lnTo>
                    <a:pt x="2963333" y="0"/>
                  </a:lnTo>
                  <a:cubicBezTo>
                    <a:pt x="3010093" y="0"/>
                    <a:pt x="3048000" y="37907"/>
                    <a:pt x="3048000" y="84667"/>
                  </a:cubicBezTo>
                  <a:lnTo>
                    <a:pt x="3048000" y="1439333"/>
                  </a:lnTo>
                  <a:cubicBezTo>
                    <a:pt x="3048000" y="1486093"/>
                    <a:pt x="3010093" y="1524000"/>
                    <a:pt x="2963333" y="1524000"/>
                  </a:cubicBezTo>
                  <a:lnTo>
                    <a:pt x="84667" y="1524000"/>
                  </a:lnTo>
                  <a:cubicBezTo>
                    <a:pt x="37907" y="1524000"/>
                    <a:pt x="0" y="1486093"/>
                    <a:pt x="0" y="1439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FILE DESCRIPTOR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14573250" y="5381625"/>
            <a:ext cx="333375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15049500" y="4810125"/>
            <a:ext cx="2286000" cy="1143000"/>
            <a:chOff x="0" y="0"/>
            <a:chExt cx="3048000" cy="1524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48000" cy="1524000"/>
            </a:xfrm>
            <a:custGeom>
              <a:avLst/>
              <a:gdLst/>
              <a:ahLst/>
              <a:cxnLst/>
              <a:rect l="l" t="t" r="r" b="b"/>
              <a:pathLst>
                <a:path w="3048000" h="1524000">
                  <a:moveTo>
                    <a:pt x="84667" y="0"/>
                  </a:moveTo>
                  <a:lnTo>
                    <a:pt x="2963333" y="0"/>
                  </a:lnTo>
                  <a:cubicBezTo>
                    <a:pt x="3010093" y="0"/>
                    <a:pt x="3048000" y="37907"/>
                    <a:pt x="3048000" y="84667"/>
                  </a:cubicBezTo>
                  <a:lnTo>
                    <a:pt x="3048000" y="1439333"/>
                  </a:lnTo>
                  <a:cubicBezTo>
                    <a:pt x="3048000" y="1486093"/>
                    <a:pt x="3010093" y="1524000"/>
                    <a:pt x="2963333" y="1524000"/>
                  </a:cubicBezTo>
                  <a:lnTo>
                    <a:pt x="84667" y="1524000"/>
                  </a:lnTo>
                  <a:cubicBezTo>
                    <a:pt x="37907" y="1524000"/>
                    <a:pt x="0" y="1486093"/>
                    <a:pt x="0" y="1439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048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LINUX FILESYSTEM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14400" y="8020050"/>
            <a:ext cx="1428750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connects a practical academic application directly to Operating Systems concepts.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Faculty Portal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4287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Faculty Portal enables faculty members to manage academic assignments and student submissions.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486150"/>
            <a:ext cx="5905500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1800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LOGIN / SIGNUP</a:t>
            </a:r>
          </a:p>
          <a:p>
            <a:pPr algn="l">
              <a:lnSpc>
                <a:spcPts val="3060"/>
              </a:lnSpc>
            </a:pPr>
            <a:r>
              <a:rPr lang="en-US" sz="1800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CREATE + PUBLISH ASSIGNMENTS</a:t>
            </a:r>
          </a:p>
          <a:p>
            <a:pPr algn="l">
              <a:lnSpc>
                <a:spcPts val="3060"/>
              </a:lnSpc>
            </a:pPr>
            <a:r>
              <a:rPr lang="en-US" sz="1800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ADD DESCRIPTIONS + DEADLINES</a:t>
            </a:r>
          </a:p>
          <a:p>
            <a:pPr algn="l">
              <a:lnSpc>
                <a:spcPts val="3060"/>
              </a:lnSpc>
            </a:pPr>
            <a:r>
              <a:rPr lang="en-US" sz="1800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VIEW SUBMISSIONS</a:t>
            </a:r>
          </a:p>
          <a:p>
            <a:pPr algn="l">
              <a:lnSpc>
                <a:spcPts val="3060"/>
              </a:lnSpc>
            </a:pPr>
            <a:r>
              <a:rPr lang="en-US" sz="1800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MANAGE ASSIGNMENTS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29500" y="4667250"/>
            <a:ext cx="1619250" cy="952500"/>
            <a:chOff x="0" y="0"/>
            <a:chExt cx="2159000" cy="127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9000" cy="1270000"/>
            </a:xfrm>
            <a:custGeom>
              <a:avLst/>
              <a:gdLst/>
              <a:ahLst/>
              <a:cxnLst/>
              <a:rect l="l" t="t" r="r" b="b"/>
              <a:pathLst>
                <a:path w="2159000" h="1270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150471"/>
                  </a:lnTo>
                  <a:cubicBezTo>
                    <a:pt x="2159000" y="1216485"/>
                    <a:pt x="2105485" y="1270000"/>
                    <a:pt x="2039471" y="1270000"/>
                  </a:cubicBezTo>
                  <a:lnTo>
                    <a:pt x="119529" y="1270000"/>
                  </a:lnTo>
                  <a:cubicBezTo>
                    <a:pt x="53515" y="1270000"/>
                    <a:pt x="0" y="1216485"/>
                    <a:pt x="0" y="1150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59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FACULTY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9048750" y="5143500"/>
            <a:ext cx="55245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/>
          <p:cNvGrpSpPr/>
          <p:nvPr/>
        </p:nvGrpSpPr>
        <p:grpSpPr>
          <a:xfrm>
            <a:off x="9715500" y="4667250"/>
            <a:ext cx="2571750" cy="952500"/>
            <a:chOff x="0" y="0"/>
            <a:chExt cx="3429000" cy="127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29000" cy="1270000"/>
            </a:xfrm>
            <a:custGeom>
              <a:avLst/>
              <a:gdLst/>
              <a:ahLst/>
              <a:cxnLst/>
              <a:rect l="l" t="t" r="r" b="b"/>
              <a:pathLst>
                <a:path w="3429000" h="1270000">
                  <a:moveTo>
                    <a:pt x="75259" y="0"/>
                  </a:moveTo>
                  <a:lnTo>
                    <a:pt x="3353741" y="0"/>
                  </a:lnTo>
                  <a:cubicBezTo>
                    <a:pt x="3395305" y="0"/>
                    <a:pt x="3429000" y="33695"/>
                    <a:pt x="3429000" y="75259"/>
                  </a:cubicBezTo>
                  <a:lnTo>
                    <a:pt x="3429000" y="1194741"/>
                  </a:lnTo>
                  <a:cubicBezTo>
                    <a:pt x="3429000" y="1236305"/>
                    <a:pt x="3395305" y="1270000"/>
                    <a:pt x="3353741" y="1270000"/>
                  </a:cubicBezTo>
                  <a:lnTo>
                    <a:pt x="75259" y="1270000"/>
                  </a:lnTo>
                  <a:cubicBezTo>
                    <a:pt x="33695" y="1270000"/>
                    <a:pt x="0" y="1236305"/>
                    <a:pt x="0" y="1194741"/>
                  </a:cubicBezTo>
                  <a:lnTo>
                    <a:pt x="0" y="75259"/>
                  </a:lnTo>
                  <a:cubicBezTo>
                    <a:pt x="0" y="33695"/>
                    <a:pt x="33695" y="0"/>
                    <a:pt x="75259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429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CREATE ASSIGNMENT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12287250" y="5143500"/>
            <a:ext cx="2667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12668250" y="4667250"/>
            <a:ext cx="1619250" cy="952500"/>
            <a:chOff x="0" y="0"/>
            <a:chExt cx="2159000" cy="127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59000" cy="1270000"/>
            </a:xfrm>
            <a:custGeom>
              <a:avLst/>
              <a:gdLst/>
              <a:ahLst/>
              <a:cxnLst/>
              <a:rect l="l" t="t" r="r" b="b"/>
              <a:pathLst>
                <a:path w="2159000" h="1270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150471"/>
                  </a:lnTo>
                  <a:cubicBezTo>
                    <a:pt x="2159000" y="1216485"/>
                    <a:pt x="2105485" y="1270000"/>
                    <a:pt x="2039471" y="1270000"/>
                  </a:cubicBezTo>
                  <a:lnTo>
                    <a:pt x="119529" y="1270000"/>
                  </a:lnTo>
                  <a:cubicBezTo>
                    <a:pt x="53515" y="1270000"/>
                    <a:pt x="0" y="1216485"/>
                    <a:pt x="0" y="1150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159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open()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4287500" y="5143500"/>
            <a:ext cx="17145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4573250" y="4667250"/>
            <a:ext cx="1619250" cy="952500"/>
            <a:chOff x="0" y="0"/>
            <a:chExt cx="2159000" cy="127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59000" cy="1270000"/>
            </a:xfrm>
            <a:custGeom>
              <a:avLst/>
              <a:gdLst/>
              <a:ahLst/>
              <a:cxnLst/>
              <a:rect l="l" t="t" r="r" b="b"/>
              <a:pathLst>
                <a:path w="2159000" h="1270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150471"/>
                  </a:lnTo>
                  <a:cubicBezTo>
                    <a:pt x="2159000" y="1216485"/>
                    <a:pt x="2105485" y="1270000"/>
                    <a:pt x="2039471" y="1270000"/>
                  </a:cubicBezTo>
                  <a:lnTo>
                    <a:pt x="119529" y="1270000"/>
                  </a:lnTo>
                  <a:cubicBezTo>
                    <a:pt x="53515" y="1270000"/>
                    <a:pt x="0" y="1216485"/>
                    <a:pt x="0" y="1150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159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write()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6192500" y="5143500"/>
            <a:ext cx="762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16383000" y="4667250"/>
            <a:ext cx="1619250" cy="952500"/>
            <a:chOff x="0" y="0"/>
            <a:chExt cx="2159000" cy="127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59000" cy="1270000"/>
            </a:xfrm>
            <a:custGeom>
              <a:avLst/>
              <a:gdLst/>
              <a:ahLst/>
              <a:cxnLst/>
              <a:rect l="l" t="t" r="r" b="b"/>
              <a:pathLst>
                <a:path w="2159000" h="1270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150471"/>
                  </a:lnTo>
                  <a:cubicBezTo>
                    <a:pt x="2159000" y="1216485"/>
                    <a:pt x="2105485" y="1270000"/>
                    <a:pt x="2039471" y="1270000"/>
                  </a:cubicBezTo>
                  <a:lnTo>
                    <a:pt x="119529" y="1270000"/>
                  </a:lnTo>
                  <a:cubicBezTo>
                    <a:pt x="53515" y="1270000"/>
                    <a:pt x="0" y="1216485"/>
                    <a:pt x="0" y="1150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159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close()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4400" y="8067675"/>
            <a:ext cx="1428750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 USE  Converts an academic action into a safe Linux write workflow.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Portal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4287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Student Portal enables students to access assignments, submit work and collaborate through shared notes.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200400"/>
            <a:ext cx="152400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LOGIN / SIGNUP  •  VIEW + READ  •  SUBMIT / REPLACE  •  STATUS  •  SHARED NOTES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52500" y="4619625"/>
            <a:ext cx="2190750" cy="1000125"/>
            <a:chOff x="0" y="0"/>
            <a:chExt cx="2921000" cy="1333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1000" cy="1333500"/>
            </a:xfrm>
            <a:custGeom>
              <a:avLst/>
              <a:gdLst/>
              <a:ahLst/>
              <a:cxnLst/>
              <a:rect l="l" t="t" r="r" b="b"/>
              <a:pathLst>
                <a:path w="2921000" h="13335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245152"/>
                  </a:lnTo>
                  <a:cubicBezTo>
                    <a:pt x="2921000" y="1293945"/>
                    <a:pt x="2881445" y="1333500"/>
                    <a:pt x="2832652" y="1333500"/>
                  </a:cubicBezTo>
                  <a:lnTo>
                    <a:pt x="88348" y="1333500"/>
                  </a:lnTo>
                  <a:cubicBezTo>
                    <a:pt x="39555" y="1333500"/>
                    <a:pt x="0" y="1293945"/>
                    <a:pt x="0" y="12451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921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STUDENT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3143250" y="5114925"/>
            <a:ext cx="4191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/>
          <p:cNvGrpSpPr/>
          <p:nvPr/>
        </p:nvGrpSpPr>
        <p:grpSpPr>
          <a:xfrm>
            <a:off x="3714750" y="4619625"/>
            <a:ext cx="2857500" cy="1000125"/>
            <a:chOff x="0" y="0"/>
            <a:chExt cx="3810000" cy="1333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265767"/>
                  </a:lnTo>
                  <a:cubicBezTo>
                    <a:pt x="3810000" y="1283731"/>
                    <a:pt x="3802864" y="1300959"/>
                    <a:pt x="3790161" y="1313661"/>
                  </a:cubicBezTo>
                  <a:cubicBezTo>
                    <a:pt x="3777459" y="1326364"/>
                    <a:pt x="3760231" y="1333500"/>
                    <a:pt x="3742267" y="1333500"/>
                  </a:cubicBezTo>
                  <a:lnTo>
                    <a:pt x="67733" y="1333500"/>
                  </a:lnTo>
                  <a:cubicBezTo>
                    <a:pt x="49769" y="1333500"/>
                    <a:pt x="32541" y="1326364"/>
                    <a:pt x="19839" y="1313661"/>
                  </a:cubicBezTo>
                  <a:cubicBezTo>
                    <a:pt x="7136" y="1300959"/>
                    <a:pt x="0" y="1283731"/>
                    <a:pt x="0" y="12657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810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VIEW ASSIGNMENT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6572250" y="5114925"/>
            <a:ext cx="8001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7524750" y="4619625"/>
            <a:ext cx="2190750" cy="1000125"/>
            <a:chOff x="0" y="0"/>
            <a:chExt cx="2921000" cy="1333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21000" cy="1333500"/>
            </a:xfrm>
            <a:custGeom>
              <a:avLst/>
              <a:gdLst/>
              <a:ahLst/>
              <a:cxnLst/>
              <a:rect l="l" t="t" r="r" b="b"/>
              <a:pathLst>
                <a:path w="2921000" h="13335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245152"/>
                  </a:lnTo>
                  <a:cubicBezTo>
                    <a:pt x="2921000" y="1293945"/>
                    <a:pt x="2881445" y="1333500"/>
                    <a:pt x="2832652" y="1333500"/>
                  </a:cubicBezTo>
                  <a:lnTo>
                    <a:pt x="88348" y="1333500"/>
                  </a:lnTo>
                  <a:cubicBezTo>
                    <a:pt x="39555" y="1333500"/>
                    <a:pt x="0" y="1293945"/>
                    <a:pt x="0" y="12451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921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open()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9715500" y="5114925"/>
            <a:ext cx="4191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0287000" y="4619625"/>
            <a:ext cx="2190750" cy="1000125"/>
            <a:chOff x="0" y="0"/>
            <a:chExt cx="2921000" cy="1333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21000" cy="1333500"/>
            </a:xfrm>
            <a:custGeom>
              <a:avLst/>
              <a:gdLst/>
              <a:ahLst/>
              <a:cxnLst/>
              <a:rect l="l" t="t" r="r" b="b"/>
              <a:pathLst>
                <a:path w="2921000" h="13335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245152"/>
                  </a:lnTo>
                  <a:cubicBezTo>
                    <a:pt x="2921000" y="1293945"/>
                    <a:pt x="2881445" y="1333500"/>
                    <a:pt x="2832652" y="1333500"/>
                  </a:cubicBezTo>
                  <a:lnTo>
                    <a:pt x="88348" y="1333500"/>
                  </a:lnTo>
                  <a:cubicBezTo>
                    <a:pt x="39555" y="1333500"/>
                    <a:pt x="0" y="1293945"/>
                    <a:pt x="0" y="12451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921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read()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2477750" y="5114925"/>
            <a:ext cx="4191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13049250" y="4619625"/>
            <a:ext cx="2190750" cy="1000125"/>
            <a:chOff x="0" y="0"/>
            <a:chExt cx="2921000" cy="1333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921000" cy="1333500"/>
            </a:xfrm>
            <a:custGeom>
              <a:avLst/>
              <a:gdLst/>
              <a:ahLst/>
              <a:cxnLst/>
              <a:rect l="l" t="t" r="r" b="b"/>
              <a:pathLst>
                <a:path w="2921000" h="13335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245152"/>
                  </a:lnTo>
                  <a:cubicBezTo>
                    <a:pt x="2921000" y="1293945"/>
                    <a:pt x="2881445" y="1333500"/>
                    <a:pt x="2832652" y="1333500"/>
                  </a:cubicBezTo>
                  <a:lnTo>
                    <a:pt x="88348" y="1333500"/>
                  </a:lnTo>
                  <a:cubicBezTo>
                    <a:pt x="39555" y="1333500"/>
                    <a:pt x="0" y="1293945"/>
                    <a:pt x="0" y="12451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921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close()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2500" y="6477000"/>
            <a:ext cx="2190750" cy="1000125"/>
            <a:chOff x="0" y="0"/>
            <a:chExt cx="2921000" cy="1333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21000" cy="1333500"/>
            </a:xfrm>
            <a:custGeom>
              <a:avLst/>
              <a:gdLst/>
              <a:ahLst/>
              <a:cxnLst/>
              <a:rect l="l" t="t" r="r" b="b"/>
              <a:pathLst>
                <a:path w="2921000" h="13335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245152"/>
                  </a:lnTo>
                  <a:cubicBezTo>
                    <a:pt x="2921000" y="1293945"/>
                    <a:pt x="2881445" y="1333500"/>
                    <a:pt x="2832652" y="1333500"/>
                  </a:cubicBezTo>
                  <a:lnTo>
                    <a:pt x="88348" y="1333500"/>
                  </a:lnTo>
                  <a:cubicBezTo>
                    <a:pt x="39555" y="1333500"/>
                    <a:pt x="0" y="1293945"/>
                    <a:pt x="0" y="12451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921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STUDENT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3143250" y="6972300"/>
            <a:ext cx="4191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3714750" y="6477000"/>
            <a:ext cx="2857500" cy="1000125"/>
            <a:chOff x="0" y="0"/>
            <a:chExt cx="3810000" cy="13335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265767"/>
                  </a:lnTo>
                  <a:cubicBezTo>
                    <a:pt x="3810000" y="1283731"/>
                    <a:pt x="3802864" y="1300959"/>
                    <a:pt x="3790161" y="1313661"/>
                  </a:cubicBezTo>
                  <a:cubicBezTo>
                    <a:pt x="3777459" y="1326364"/>
                    <a:pt x="3760231" y="1333500"/>
                    <a:pt x="3742267" y="1333500"/>
                  </a:cubicBezTo>
                  <a:lnTo>
                    <a:pt x="67733" y="1333500"/>
                  </a:lnTo>
                  <a:cubicBezTo>
                    <a:pt x="49769" y="1333500"/>
                    <a:pt x="32541" y="1326364"/>
                    <a:pt x="19839" y="1313661"/>
                  </a:cubicBezTo>
                  <a:cubicBezTo>
                    <a:pt x="7136" y="1300959"/>
                    <a:pt x="0" y="1283731"/>
                    <a:pt x="0" y="12657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810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SUBMIT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>
            <a:off x="6572250" y="6972300"/>
            <a:ext cx="8001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6" name="Group 36"/>
          <p:cNvGrpSpPr/>
          <p:nvPr/>
        </p:nvGrpSpPr>
        <p:grpSpPr>
          <a:xfrm>
            <a:off x="7524750" y="6477000"/>
            <a:ext cx="2190750" cy="1000125"/>
            <a:chOff x="0" y="0"/>
            <a:chExt cx="2921000" cy="13335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921000" cy="1333500"/>
            </a:xfrm>
            <a:custGeom>
              <a:avLst/>
              <a:gdLst/>
              <a:ahLst/>
              <a:cxnLst/>
              <a:rect l="l" t="t" r="r" b="b"/>
              <a:pathLst>
                <a:path w="2921000" h="13335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245152"/>
                  </a:lnTo>
                  <a:cubicBezTo>
                    <a:pt x="2921000" y="1293945"/>
                    <a:pt x="2881445" y="1333500"/>
                    <a:pt x="2832652" y="1333500"/>
                  </a:cubicBezTo>
                  <a:lnTo>
                    <a:pt x="88348" y="1333500"/>
                  </a:lnTo>
                  <a:cubicBezTo>
                    <a:pt x="39555" y="1333500"/>
                    <a:pt x="0" y="1293945"/>
                    <a:pt x="0" y="12451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921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open()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>
            <a:off x="9715500" y="6972300"/>
            <a:ext cx="4191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0" name="Group 40"/>
          <p:cNvGrpSpPr/>
          <p:nvPr/>
        </p:nvGrpSpPr>
        <p:grpSpPr>
          <a:xfrm>
            <a:off x="10287000" y="6477000"/>
            <a:ext cx="2190750" cy="1000125"/>
            <a:chOff x="0" y="0"/>
            <a:chExt cx="2921000" cy="13335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921000" cy="1333500"/>
            </a:xfrm>
            <a:custGeom>
              <a:avLst/>
              <a:gdLst/>
              <a:ahLst/>
              <a:cxnLst/>
              <a:rect l="l" t="t" r="r" b="b"/>
              <a:pathLst>
                <a:path w="2921000" h="13335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245152"/>
                  </a:lnTo>
                  <a:cubicBezTo>
                    <a:pt x="2921000" y="1293945"/>
                    <a:pt x="2881445" y="1333500"/>
                    <a:pt x="2832652" y="1333500"/>
                  </a:cubicBezTo>
                  <a:lnTo>
                    <a:pt x="88348" y="1333500"/>
                  </a:lnTo>
                  <a:cubicBezTo>
                    <a:pt x="39555" y="1333500"/>
                    <a:pt x="0" y="1293945"/>
                    <a:pt x="0" y="12451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921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write()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>
            <a:off x="12477750" y="6972300"/>
            <a:ext cx="419100" cy="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4" name="Group 44"/>
          <p:cNvGrpSpPr/>
          <p:nvPr/>
        </p:nvGrpSpPr>
        <p:grpSpPr>
          <a:xfrm>
            <a:off x="13049250" y="6477000"/>
            <a:ext cx="2190750" cy="1000125"/>
            <a:chOff x="0" y="0"/>
            <a:chExt cx="2921000" cy="13335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921000" cy="1333500"/>
            </a:xfrm>
            <a:custGeom>
              <a:avLst/>
              <a:gdLst/>
              <a:ahLst/>
              <a:cxnLst/>
              <a:rect l="l" t="t" r="r" b="b"/>
              <a:pathLst>
                <a:path w="2921000" h="1333500">
                  <a:moveTo>
                    <a:pt x="88348" y="0"/>
                  </a:moveTo>
                  <a:lnTo>
                    <a:pt x="2832652" y="0"/>
                  </a:lnTo>
                  <a:cubicBezTo>
                    <a:pt x="2881445" y="0"/>
                    <a:pt x="2921000" y="39555"/>
                    <a:pt x="2921000" y="88348"/>
                  </a:cubicBezTo>
                  <a:lnTo>
                    <a:pt x="2921000" y="1245152"/>
                  </a:lnTo>
                  <a:cubicBezTo>
                    <a:pt x="2921000" y="1293945"/>
                    <a:pt x="2881445" y="1333500"/>
                    <a:pt x="2832652" y="1333500"/>
                  </a:cubicBezTo>
                  <a:lnTo>
                    <a:pt x="88348" y="1333500"/>
                  </a:lnTo>
                  <a:cubicBezTo>
                    <a:pt x="39555" y="1333500"/>
                    <a:pt x="0" y="1293945"/>
                    <a:pt x="0" y="1245152"/>
                  </a:cubicBezTo>
                  <a:lnTo>
                    <a:pt x="0" y="88348"/>
                  </a:lnTo>
                  <a:cubicBezTo>
                    <a:pt x="0" y="39555"/>
                    <a:pt x="39555" y="0"/>
                    <a:pt x="88348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2921000" cy="137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close()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 Concepts Used in CampusHub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2381250"/>
            <a:ext cx="8191500" cy="552450"/>
            <a:chOff x="0" y="0"/>
            <a:chExt cx="10922000" cy="7366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922000" cy="736600"/>
              <a:chOff x="0" y="0"/>
              <a:chExt cx="10922000" cy="736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922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0" h="736600">
                    <a:moveTo>
                      <a:pt x="0" y="0"/>
                    </a:moveTo>
                    <a:lnTo>
                      <a:pt x="10922000" y="0"/>
                    </a:lnTo>
                    <a:lnTo>
                      <a:pt x="1092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0922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04800" y="149225"/>
              <a:ext cx="5207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Create Assignment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65800" y="149225"/>
              <a:ext cx="457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open() + write()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3067050"/>
            <a:ext cx="8191500" cy="552450"/>
            <a:chOff x="0" y="0"/>
            <a:chExt cx="10922000" cy="7366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922000" cy="736600"/>
              <a:chOff x="0" y="0"/>
              <a:chExt cx="10922000" cy="736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922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0" h="736600">
                    <a:moveTo>
                      <a:pt x="0" y="0"/>
                    </a:moveTo>
                    <a:lnTo>
                      <a:pt x="10922000" y="0"/>
                    </a:lnTo>
                    <a:lnTo>
                      <a:pt x="1092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0B1C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922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04800" y="149225"/>
              <a:ext cx="5207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View Assignment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65800" y="149225"/>
              <a:ext cx="457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open() + read()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3752850"/>
            <a:ext cx="8191500" cy="552450"/>
            <a:chOff x="0" y="0"/>
            <a:chExt cx="10922000" cy="7366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0922000" cy="736600"/>
              <a:chOff x="0" y="0"/>
              <a:chExt cx="10922000" cy="736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0922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0" h="736600">
                    <a:moveTo>
                      <a:pt x="0" y="0"/>
                    </a:moveTo>
                    <a:lnTo>
                      <a:pt x="10922000" y="0"/>
                    </a:lnTo>
                    <a:lnTo>
                      <a:pt x="1092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0922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304800" y="149225"/>
              <a:ext cx="5207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Submit Assignment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65800" y="149225"/>
              <a:ext cx="457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open() + write()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4438650"/>
            <a:ext cx="8191500" cy="552450"/>
            <a:chOff x="0" y="0"/>
            <a:chExt cx="10922000" cy="7366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0922000" cy="736600"/>
              <a:chOff x="0" y="0"/>
              <a:chExt cx="10922000" cy="736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922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0" h="736600">
                    <a:moveTo>
                      <a:pt x="0" y="0"/>
                    </a:moveTo>
                    <a:lnTo>
                      <a:pt x="10922000" y="0"/>
                    </a:lnTo>
                    <a:lnTo>
                      <a:pt x="1092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0B1C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0922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04800" y="149225"/>
              <a:ext cx="5207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Replace Submission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65800" y="149225"/>
              <a:ext cx="457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O_TRUNC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5124450"/>
            <a:ext cx="8191500" cy="552450"/>
            <a:chOff x="0" y="0"/>
            <a:chExt cx="10922000" cy="7366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0922000" cy="736600"/>
              <a:chOff x="0" y="0"/>
              <a:chExt cx="10922000" cy="736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922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0" h="736600">
                    <a:moveTo>
                      <a:pt x="0" y="0"/>
                    </a:moveTo>
                    <a:lnTo>
                      <a:pt x="10922000" y="0"/>
                    </a:lnTo>
                    <a:lnTo>
                      <a:pt x="1092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0922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04800" y="149225"/>
              <a:ext cx="5207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Shared Notes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65800" y="149225"/>
              <a:ext cx="457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O_APPEND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5810250"/>
            <a:ext cx="8191500" cy="552450"/>
            <a:chOff x="0" y="0"/>
            <a:chExt cx="10922000" cy="7366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0922000" cy="736600"/>
              <a:chOff x="0" y="0"/>
              <a:chExt cx="10922000" cy="736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0922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0" h="736600">
                    <a:moveTo>
                      <a:pt x="0" y="0"/>
                    </a:moveTo>
                    <a:lnTo>
                      <a:pt x="10922000" y="0"/>
                    </a:lnTo>
                    <a:lnTo>
                      <a:pt x="1092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0B1C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0922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304800" y="149225"/>
              <a:ext cx="5207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File Information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65800" y="149225"/>
              <a:ext cx="457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stat()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4400" y="6496050"/>
            <a:ext cx="8191500" cy="552450"/>
            <a:chOff x="0" y="0"/>
            <a:chExt cx="10922000" cy="7366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10922000" cy="736600"/>
              <a:chOff x="0" y="0"/>
              <a:chExt cx="10922000" cy="736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0922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0" h="736600">
                    <a:moveTo>
                      <a:pt x="0" y="0"/>
                    </a:moveTo>
                    <a:lnTo>
                      <a:pt x="10922000" y="0"/>
                    </a:lnTo>
                    <a:lnTo>
                      <a:pt x="1092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1024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10922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04800" y="149225"/>
              <a:ext cx="5207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Delete File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65800" y="149225"/>
              <a:ext cx="457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unlink()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4400" y="7181850"/>
            <a:ext cx="8191500" cy="552450"/>
            <a:chOff x="0" y="0"/>
            <a:chExt cx="10922000" cy="736600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10922000" cy="736600"/>
              <a:chOff x="0" y="0"/>
              <a:chExt cx="10922000" cy="7366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0922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0922000" h="736600">
                    <a:moveTo>
                      <a:pt x="0" y="0"/>
                    </a:moveTo>
                    <a:lnTo>
                      <a:pt x="10922000" y="0"/>
                    </a:lnTo>
                    <a:lnTo>
                      <a:pt x="10922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0B1C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10922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304800" y="149225"/>
              <a:ext cx="5207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>
                  <a:solidFill>
                    <a:srgbClr val="F5F9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File Position / Duplication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65800" y="149225"/>
              <a:ext cx="457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24D6E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lseek() / dup()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049000" y="2333625"/>
            <a:ext cx="5334000" cy="685800"/>
            <a:chOff x="0" y="0"/>
            <a:chExt cx="7112000" cy="9144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112000" cy="914400"/>
            </a:xfrm>
            <a:custGeom>
              <a:avLst/>
              <a:gdLst/>
              <a:ahLst/>
              <a:cxnLst/>
              <a:rect l="l" t="t" r="r" b="b"/>
              <a:pathLst>
                <a:path w="7112000" h="914400">
                  <a:moveTo>
                    <a:pt x="36286" y="0"/>
                  </a:moveTo>
                  <a:lnTo>
                    <a:pt x="7075715" y="0"/>
                  </a:lnTo>
                  <a:cubicBezTo>
                    <a:pt x="7095754" y="0"/>
                    <a:pt x="7112000" y="16246"/>
                    <a:pt x="7112000" y="36286"/>
                  </a:cubicBezTo>
                  <a:lnTo>
                    <a:pt x="7112000" y="878114"/>
                  </a:lnTo>
                  <a:cubicBezTo>
                    <a:pt x="7112000" y="898154"/>
                    <a:pt x="7095754" y="914400"/>
                    <a:pt x="7075715" y="914400"/>
                  </a:cubicBezTo>
                  <a:lnTo>
                    <a:pt x="36286" y="914400"/>
                  </a:lnTo>
                  <a:cubicBezTo>
                    <a:pt x="16246" y="914400"/>
                    <a:pt x="0" y="898154"/>
                    <a:pt x="0" y="878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711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USER</a:t>
              </a:r>
            </a:p>
          </p:txBody>
        </p:sp>
      </p:grpSp>
      <p:sp>
        <p:nvSpPr>
          <p:cNvPr id="58" name="AutoShape 58"/>
          <p:cNvSpPr/>
          <p:nvPr/>
        </p:nvSpPr>
        <p:spPr>
          <a:xfrm>
            <a:off x="13716000" y="3019425"/>
            <a:ext cx="0" cy="20955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9" name="Group 59"/>
          <p:cNvGrpSpPr/>
          <p:nvPr/>
        </p:nvGrpSpPr>
        <p:grpSpPr>
          <a:xfrm>
            <a:off x="11049000" y="3286125"/>
            <a:ext cx="5334000" cy="685800"/>
            <a:chOff x="0" y="0"/>
            <a:chExt cx="7112000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112000" cy="914400"/>
            </a:xfrm>
            <a:custGeom>
              <a:avLst/>
              <a:gdLst/>
              <a:ahLst/>
              <a:cxnLst/>
              <a:rect l="l" t="t" r="r" b="b"/>
              <a:pathLst>
                <a:path w="7112000" h="914400">
                  <a:moveTo>
                    <a:pt x="36286" y="0"/>
                  </a:moveTo>
                  <a:lnTo>
                    <a:pt x="7075715" y="0"/>
                  </a:lnTo>
                  <a:cubicBezTo>
                    <a:pt x="7095754" y="0"/>
                    <a:pt x="7112000" y="16246"/>
                    <a:pt x="7112000" y="36286"/>
                  </a:cubicBezTo>
                  <a:lnTo>
                    <a:pt x="7112000" y="878114"/>
                  </a:lnTo>
                  <a:cubicBezTo>
                    <a:pt x="7112000" y="898154"/>
                    <a:pt x="7095754" y="914400"/>
                    <a:pt x="7075715" y="914400"/>
                  </a:cubicBezTo>
                  <a:lnTo>
                    <a:pt x="36286" y="914400"/>
                  </a:lnTo>
                  <a:cubicBezTo>
                    <a:pt x="16246" y="914400"/>
                    <a:pt x="0" y="898154"/>
                    <a:pt x="0" y="878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711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WEB UI</a:t>
              </a:r>
            </a:p>
          </p:txBody>
        </p:sp>
      </p:grpSp>
      <p:sp>
        <p:nvSpPr>
          <p:cNvPr id="62" name="AutoShape 62"/>
          <p:cNvSpPr/>
          <p:nvPr/>
        </p:nvSpPr>
        <p:spPr>
          <a:xfrm>
            <a:off x="13716000" y="3971925"/>
            <a:ext cx="0" cy="20955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3" name="Group 63"/>
          <p:cNvGrpSpPr/>
          <p:nvPr/>
        </p:nvGrpSpPr>
        <p:grpSpPr>
          <a:xfrm>
            <a:off x="11049000" y="4238625"/>
            <a:ext cx="5334000" cy="685800"/>
            <a:chOff x="0" y="0"/>
            <a:chExt cx="7112000" cy="914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112000" cy="914400"/>
            </a:xfrm>
            <a:custGeom>
              <a:avLst/>
              <a:gdLst/>
              <a:ahLst/>
              <a:cxnLst/>
              <a:rect l="l" t="t" r="r" b="b"/>
              <a:pathLst>
                <a:path w="7112000" h="914400">
                  <a:moveTo>
                    <a:pt x="36286" y="0"/>
                  </a:moveTo>
                  <a:lnTo>
                    <a:pt x="7075715" y="0"/>
                  </a:lnTo>
                  <a:cubicBezTo>
                    <a:pt x="7095754" y="0"/>
                    <a:pt x="7112000" y="16246"/>
                    <a:pt x="7112000" y="36286"/>
                  </a:cubicBezTo>
                  <a:lnTo>
                    <a:pt x="7112000" y="878114"/>
                  </a:lnTo>
                  <a:cubicBezTo>
                    <a:pt x="7112000" y="898154"/>
                    <a:pt x="7095754" y="914400"/>
                    <a:pt x="7075715" y="914400"/>
                  </a:cubicBezTo>
                  <a:lnTo>
                    <a:pt x="36286" y="914400"/>
                  </a:lnTo>
                  <a:cubicBezTo>
                    <a:pt x="16246" y="914400"/>
                    <a:pt x="0" y="898154"/>
                    <a:pt x="0" y="878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11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 BACKEND</a:t>
              </a:r>
            </a:p>
          </p:txBody>
        </p:sp>
      </p:grpSp>
      <p:sp>
        <p:nvSpPr>
          <p:cNvPr id="66" name="AutoShape 66"/>
          <p:cNvSpPr/>
          <p:nvPr/>
        </p:nvSpPr>
        <p:spPr>
          <a:xfrm>
            <a:off x="13716000" y="4924425"/>
            <a:ext cx="0" cy="20955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7" name="Group 67"/>
          <p:cNvGrpSpPr/>
          <p:nvPr/>
        </p:nvGrpSpPr>
        <p:grpSpPr>
          <a:xfrm>
            <a:off x="11049000" y="5191125"/>
            <a:ext cx="5334000" cy="685800"/>
            <a:chOff x="0" y="0"/>
            <a:chExt cx="7112000" cy="9144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112000" cy="914400"/>
            </a:xfrm>
            <a:custGeom>
              <a:avLst/>
              <a:gdLst/>
              <a:ahLst/>
              <a:cxnLst/>
              <a:rect l="l" t="t" r="r" b="b"/>
              <a:pathLst>
                <a:path w="7112000" h="914400">
                  <a:moveTo>
                    <a:pt x="36286" y="0"/>
                  </a:moveTo>
                  <a:lnTo>
                    <a:pt x="7075715" y="0"/>
                  </a:lnTo>
                  <a:cubicBezTo>
                    <a:pt x="7095754" y="0"/>
                    <a:pt x="7112000" y="16246"/>
                    <a:pt x="7112000" y="36286"/>
                  </a:cubicBezTo>
                  <a:lnTo>
                    <a:pt x="7112000" y="878114"/>
                  </a:lnTo>
                  <a:cubicBezTo>
                    <a:pt x="7112000" y="898154"/>
                    <a:pt x="7095754" y="914400"/>
                    <a:pt x="7075715" y="914400"/>
                  </a:cubicBezTo>
                  <a:lnTo>
                    <a:pt x="36286" y="914400"/>
                  </a:lnTo>
                  <a:cubicBezTo>
                    <a:pt x="16246" y="914400"/>
                    <a:pt x="0" y="898154"/>
                    <a:pt x="0" y="878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711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SYSTEM CALLS</a:t>
              </a:r>
            </a:p>
          </p:txBody>
        </p:sp>
      </p:grpSp>
      <p:sp>
        <p:nvSpPr>
          <p:cNvPr id="70" name="AutoShape 70"/>
          <p:cNvSpPr/>
          <p:nvPr/>
        </p:nvSpPr>
        <p:spPr>
          <a:xfrm>
            <a:off x="13716000" y="5876925"/>
            <a:ext cx="0" cy="20955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1" name="Group 71"/>
          <p:cNvGrpSpPr/>
          <p:nvPr/>
        </p:nvGrpSpPr>
        <p:grpSpPr>
          <a:xfrm>
            <a:off x="11049000" y="6143625"/>
            <a:ext cx="5334000" cy="685800"/>
            <a:chOff x="0" y="0"/>
            <a:chExt cx="7112000" cy="914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112000" cy="914400"/>
            </a:xfrm>
            <a:custGeom>
              <a:avLst/>
              <a:gdLst/>
              <a:ahLst/>
              <a:cxnLst/>
              <a:rect l="l" t="t" r="r" b="b"/>
              <a:pathLst>
                <a:path w="7112000" h="914400">
                  <a:moveTo>
                    <a:pt x="36286" y="0"/>
                  </a:moveTo>
                  <a:lnTo>
                    <a:pt x="7075715" y="0"/>
                  </a:lnTo>
                  <a:cubicBezTo>
                    <a:pt x="7095754" y="0"/>
                    <a:pt x="7112000" y="16246"/>
                    <a:pt x="7112000" y="36286"/>
                  </a:cubicBezTo>
                  <a:lnTo>
                    <a:pt x="7112000" y="878114"/>
                  </a:lnTo>
                  <a:cubicBezTo>
                    <a:pt x="7112000" y="898154"/>
                    <a:pt x="7095754" y="914400"/>
                    <a:pt x="7075715" y="914400"/>
                  </a:cubicBezTo>
                  <a:lnTo>
                    <a:pt x="36286" y="914400"/>
                  </a:lnTo>
                  <a:cubicBezTo>
                    <a:pt x="16246" y="914400"/>
                    <a:pt x="0" y="898154"/>
                    <a:pt x="0" y="878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711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FILE DESCRIPTOR</a:t>
              </a:r>
            </a:p>
          </p:txBody>
        </p:sp>
      </p:grpSp>
      <p:sp>
        <p:nvSpPr>
          <p:cNvPr id="74" name="AutoShape 74"/>
          <p:cNvSpPr/>
          <p:nvPr/>
        </p:nvSpPr>
        <p:spPr>
          <a:xfrm>
            <a:off x="13716000" y="6829425"/>
            <a:ext cx="0" cy="20955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5" name="Group 75"/>
          <p:cNvGrpSpPr/>
          <p:nvPr/>
        </p:nvGrpSpPr>
        <p:grpSpPr>
          <a:xfrm>
            <a:off x="11049000" y="7096125"/>
            <a:ext cx="5334000" cy="685800"/>
            <a:chOff x="0" y="0"/>
            <a:chExt cx="7112000" cy="9144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112000" cy="914400"/>
            </a:xfrm>
            <a:custGeom>
              <a:avLst/>
              <a:gdLst/>
              <a:ahLst/>
              <a:cxnLst/>
              <a:rect l="l" t="t" r="r" b="b"/>
              <a:pathLst>
                <a:path w="7112000" h="914400">
                  <a:moveTo>
                    <a:pt x="36286" y="0"/>
                  </a:moveTo>
                  <a:lnTo>
                    <a:pt x="7075715" y="0"/>
                  </a:lnTo>
                  <a:cubicBezTo>
                    <a:pt x="7095754" y="0"/>
                    <a:pt x="7112000" y="16246"/>
                    <a:pt x="7112000" y="36286"/>
                  </a:cubicBezTo>
                  <a:lnTo>
                    <a:pt x="7112000" y="878114"/>
                  </a:lnTo>
                  <a:cubicBezTo>
                    <a:pt x="7112000" y="898154"/>
                    <a:pt x="7095754" y="914400"/>
                    <a:pt x="7075715" y="914400"/>
                  </a:cubicBezTo>
                  <a:lnTo>
                    <a:pt x="36286" y="914400"/>
                  </a:lnTo>
                  <a:cubicBezTo>
                    <a:pt x="16246" y="914400"/>
                    <a:pt x="0" y="898154"/>
                    <a:pt x="0" y="878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711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KERNEL</a:t>
              </a:r>
            </a:p>
          </p:txBody>
        </p:sp>
      </p:grpSp>
      <p:sp>
        <p:nvSpPr>
          <p:cNvPr id="78" name="AutoShape 78"/>
          <p:cNvSpPr/>
          <p:nvPr/>
        </p:nvSpPr>
        <p:spPr>
          <a:xfrm>
            <a:off x="13716000" y="7781925"/>
            <a:ext cx="0" cy="209550"/>
          </a:xfrm>
          <a:prstGeom prst="line">
            <a:avLst/>
          </a:prstGeom>
          <a:ln w="38100" cap="rnd">
            <a:solidFill>
              <a:srgbClr val="24D6E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9" name="Group 79"/>
          <p:cNvGrpSpPr/>
          <p:nvPr/>
        </p:nvGrpSpPr>
        <p:grpSpPr>
          <a:xfrm>
            <a:off x="11049000" y="8048625"/>
            <a:ext cx="5334000" cy="685800"/>
            <a:chOff x="0" y="0"/>
            <a:chExt cx="7112000" cy="914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112000" cy="914400"/>
            </a:xfrm>
            <a:custGeom>
              <a:avLst/>
              <a:gdLst/>
              <a:ahLst/>
              <a:cxnLst/>
              <a:rect l="l" t="t" r="r" b="b"/>
              <a:pathLst>
                <a:path w="7112000" h="914400">
                  <a:moveTo>
                    <a:pt x="36286" y="0"/>
                  </a:moveTo>
                  <a:lnTo>
                    <a:pt x="7075715" y="0"/>
                  </a:lnTo>
                  <a:cubicBezTo>
                    <a:pt x="7095754" y="0"/>
                    <a:pt x="7112000" y="16246"/>
                    <a:pt x="7112000" y="36286"/>
                  </a:cubicBezTo>
                  <a:lnTo>
                    <a:pt x="7112000" y="878114"/>
                  </a:lnTo>
                  <a:cubicBezTo>
                    <a:pt x="7112000" y="898154"/>
                    <a:pt x="7095754" y="914400"/>
                    <a:pt x="7075715" y="914400"/>
                  </a:cubicBezTo>
                  <a:lnTo>
                    <a:pt x="36286" y="914400"/>
                  </a:lnTo>
                  <a:cubicBezTo>
                    <a:pt x="16246" y="914400"/>
                    <a:pt x="0" y="898154"/>
                    <a:pt x="0" y="878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28425E"/>
              </a:solidFill>
              <a:prstDash val="solid"/>
              <a:miter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71120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5F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FILESYSTEM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23875"/>
            <a:ext cx="85725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225">
                <a:solidFill>
                  <a:srgbClr val="24D6E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  /  OPERATING SYSTEMS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76325"/>
            <a:ext cx="14287500" cy="6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F5F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Future Scope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16459200" cy="19050"/>
            <a:chOff x="0" y="0"/>
            <a:chExt cx="219456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5400"/>
            </a:xfrm>
            <a:custGeom>
              <a:avLst/>
              <a:gdLst/>
              <a:ahLst/>
              <a:cxnLst/>
              <a:rect l="l" t="t" r="r" b="b"/>
              <a:pathLst>
                <a:path w="21945600" h="254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25E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2105025"/>
            <a:ext cx="1428750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project demonstrates how Operating System concepts are used in a real application to manage files and I/O resources.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3429000"/>
            <a:ext cx="8096250" cy="3810000"/>
            <a:chOff x="0" y="0"/>
            <a:chExt cx="10795000" cy="508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95000" cy="5080000"/>
            </a:xfrm>
            <a:custGeom>
              <a:avLst/>
              <a:gdLst/>
              <a:ahLst/>
              <a:cxnLst/>
              <a:rect l="l" t="t" r="r" b="b"/>
              <a:pathLst>
                <a:path w="10795000" h="5080000">
                  <a:moveTo>
                    <a:pt x="0" y="0"/>
                  </a:moveTo>
                  <a:lnTo>
                    <a:pt x="10795000" y="0"/>
                  </a:lnTo>
                  <a:lnTo>
                    <a:pt x="10795000" y="5080000"/>
                  </a:lnTo>
                  <a:lnTo>
                    <a:pt x="0" y="5080000"/>
                  </a:lnTo>
                  <a:close/>
                </a:path>
              </a:pathLst>
            </a:custGeom>
            <a:solidFill>
              <a:srgbClr val="10243B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795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5000" y="3429000"/>
            <a:ext cx="8096250" cy="3810000"/>
            <a:chOff x="0" y="0"/>
            <a:chExt cx="10795000" cy="508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95000" cy="5080000"/>
            </a:xfrm>
            <a:custGeom>
              <a:avLst/>
              <a:gdLst/>
              <a:ahLst/>
              <a:cxnLst/>
              <a:rect l="l" t="t" r="r" b="b"/>
              <a:pathLst>
                <a:path w="10795000" h="5080000">
                  <a:moveTo>
                    <a:pt x="0" y="0"/>
                  </a:moveTo>
                  <a:lnTo>
                    <a:pt x="10795000" y="0"/>
                  </a:lnTo>
                  <a:lnTo>
                    <a:pt x="10795000" y="5080000"/>
                  </a:lnTo>
                  <a:lnTo>
                    <a:pt x="0" y="5080000"/>
                  </a:lnTo>
                  <a:close/>
                </a:path>
              </a:pathLst>
            </a:custGeom>
            <a:solidFill>
              <a:srgbClr val="0B1C31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795000" cy="511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00" y="3657600"/>
            <a:ext cx="7239000" cy="214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CONCLUSIONS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OS manages resources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Linux exposes system calls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open() returns a file descriptor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Descriptors enable file I/O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CampusHub makes the concepts practical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10750" y="3657600"/>
            <a:ext cx="7239000" cy="214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SCOPE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File version history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Advanced access control + file locking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 integration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collaboration</a:t>
            </a:r>
          </a:p>
          <a:p>
            <a:pPr algn="l">
              <a:lnSpc>
                <a:spcPts val="2906"/>
              </a:lnSpc>
            </a:pPr>
            <a:r>
              <a:rPr lang="en-US" sz="1875">
                <a:solidFill>
                  <a:srgbClr val="F5F9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Advanced I/O monitoring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" y="7705725"/>
            <a:ext cx="85725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>
                <a:solidFill>
                  <a:srgbClr val="24D6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8620125"/>
            <a:ext cx="76200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8BDD2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Questions &amp; Discussion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9744075"/>
            <a:ext cx="164592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>
                <a:solidFill>
                  <a:srgbClr val="A8BDD2"/>
                </a:solidFill>
                <a:latin typeface="IBM Plex Mono"/>
                <a:ea typeface="IBM Plex Mono"/>
                <a:cs typeface="IBM Plex Mono"/>
                <a:sym typeface="IBM Plex Mono"/>
              </a:rPr>
              <a:t>CAMPUSHUB  •  FILE I/O MANAGEMENT                                     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1056</Words>
  <Application>Microsoft Office PowerPoint</Application>
  <PresentationFormat>Custom</PresentationFormat>
  <Paragraphs>201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IBM Plex Mono</vt:lpstr>
      <vt:lpstr>Arial</vt:lpstr>
      <vt:lpstr>IBM Plex Mono Bold</vt:lpstr>
      <vt:lpstr>Montserrat Bold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CampusHub OS Project</dc:title>
  <cp:lastModifiedBy>tanya sri</cp:lastModifiedBy>
  <cp:revision>2</cp:revision>
  <dcterms:created xsi:type="dcterms:W3CDTF">2006-08-16T00:00:00Z</dcterms:created>
  <dcterms:modified xsi:type="dcterms:W3CDTF">2026-09-29T03:17:59Z</dcterms:modified>
  <dc:identifier>DAHWi5_0l-Q</dc:identifier>
</cp:coreProperties>
</file>